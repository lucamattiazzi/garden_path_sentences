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slides/charts/chart1.xml" ContentType="application/vnd.openxmlformats-officedocument.drawingml.chart+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afebcb7cde7348bc" /><Relationship Type="http://schemas.openxmlformats.org/officeDocument/2006/relationships/extended-properties" Target="/docProps/app.xml" Id="R5aab9bdb2cdc4f42" /><Relationship Type="http://schemas.openxmlformats.org/officeDocument/2006/relationships/officeDocument" Target="/ppt/presentation.xml" Id="Ra24c4c42b030494a" /></Relationships>
</file>

<file path=ppt/presentation.xml><?xml version="1.0" encoding="utf-8"?>
<p:presentation xmlns:p="http://schemas.openxmlformats.org/presentationml/2006/main">
  <p:sldMasterIdLst>
    <p:sldMasterId xmlns:r="http://schemas.openxmlformats.org/officeDocument/2006/relationships" id="2147483648" r:id="Rc214707819124beb"/>
  </p:sldMasterIdLst>
  <p:notesMasterIdLst>
    <p:notesMasterId xmlns:r="http://schemas.openxmlformats.org/officeDocument/2006/relationships" r:id="R5cb602c15d474e7b"/>
  </p:notesMasterIdLst>
  <p:sldIdLst>
    <p:sldId xmlns:r="http://schemas.openxmlformats.org/officeDocument/2006/relationships" id="256" r:id="R8179274a70db460d"/>
    <p:sldId xmlns:r="http://schemas.openxmlformats.org/officeDocument/2006/relationships" id="257" r:id="Rfd5fd050b0ad495e"/>
    <p:sldId xmlns:r="http://schemas.openxmlformats.org/officeDocument/2006/relationships" id="258" r:id="Rf4a1c6b2625d4f4c"/>
    <p:sldId xmlns:r="http://schemas.openxmlformats.org/officeDocument/2006/relationships" id="259" r:id="R0a6d862a781e4587"/>
    <p:sldId xmlns:r="http://schemas.openxmlformats.org/officeDocument/2006/relationships" id="260" r:id="R94432800ea9445e5"/>
    <p:sldId xmlns:r="http://schemas.openxmlformats.org/officeDocument/2006/relationships" id="261" r:id="R209a6bda1bc34bc7"/>
    <p:sldId xmlns:r="http://schemas.openxmlformats.org/officeDocument/2006/relationships" id="262" r:id="R60859ebe10e64793"/>
    <p:sldId xmlns:r="http://schemas.openxmlformats.org/officeDocument/2006/relationships" id="263" r:id="R554ca95de4564719"/>
    <p:sldId xmlns:r="http://schemas.openxmlformats.org/officeDocument/2006/relationships" id="264" r:id="R15d28c6b6a1c4700"/>
    <p:sldId xmlns:r="http://schemas.openxmlformats.org/officeDocument/2006/relationships" id="265" r:id="Re3ec3ab788884f7b"/>
    <p:sldId xmlns:r="http://schemas.openxmlformats.org/officeDocument/2006/relationships" id="266" r:id="Re79e7eca551c4d27"/>
    <p:sldId xmlns:r="http://schemas.openxmlformats.org/officeDocument/2006/relationships" id="267" r:id="Re6f8e1232d5a4846"/>
    <p:sldId xmlns:r="http://schemas.openxmlformats.org/officeDocument/2006/relationships" id="268" r:id="R6d549147e45b4b10"/>
    <p:sldId xmlns:r="http://schemas.openxmlformats.org/officeDocument/2006/relationships" id="269" r:id="R82c38cb0f776470e"/>
    <p:sldId xmlns:r="http://schemas.openxmlformats.org/officeDocument/2006/relationships" id="270" r:id="R7b289ad845f142b9"/>
    <p:sldId xmlns:r="http://schemas.openxmlformats.org/officeDocument/2006/relationships" id="271" r:id="R58edc100bffb475a"/>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1ee1de80ccc440b5" /><Relationship Type="http://schemas.openxmlformats.org/officeDocument/2006/relationships/slideMaster" Target="/ppt/slideMasters/slideMaster1.xml" Id="Rc214707819124beb" /><Relationship Type="http://schemas.openxmlformats.org/officeDocument/2006/relationships/notesMaster" Target="/ppt/notesMasters/notesMaster1.xml" Id="R5cb602c15d474e7b" /><Relationship Type="http://schemas.openxmlformats.org/officeDocument/2006/relationships/presProps" Target="/ppt/presProps.xml" Id="R50ba21aaec4d45b3" /><Relationship Type="http://schemas.openxmlformats.org/officeDocument/2006/relationships/tableStyles" Target="/ppt/tableStyles.xml" Id="R667dcd9463b14b17" /><Relationship Type="http://schemas.openxmlformats.org/officeDocument/2006/relationships/slide" Target="/ppt/slides/slide1.xml" Id="R8179274a70db460d" /><Relationship Type="http://schemas.openxmlformats.org/officeDocument/2006/relationships/slide" Target="/ppt/slides/slide2.xml" Id="Rfd5fd050b0ad495e" /><Relationship Type="http://schemas.openxmlformats.org/officeDocument/2006/relationships/slide" Target="/ppt/slides/slide3.xml" Id="Rf4a1c6b2625d4f4c" /><Relationship Type="http://schemas.openxmlformats.org/officeDocument/2006/relationships/slide" Target="/ppt/slides/slide4.xml" Id="R0a6d862a781e4587" /><Relationship Type="http://schemas.openxmlformats.org/officeDocument/2006/relationships/slide" Target="/ppt/slides/slide5.xml" Id="R94432800ea9445e5" /><Relationship Type="http://schemas.openxmlformats.org/officeDocument/2006/relationships/slide" Target="/ppt/slides/slide6.xml" Id="R209a6bda1bc34bc7" /><Relationship Type="http://schemas.openxmlformats.org/officeDocument/2006/relationships/slide" Target="/ppt/slides/slide7.xml" Id="R60859ebe10e64793" /><Relationship Type="http://schemas.openxmlformats.org/officeDocument/2006/relationships/slide" Target="/ppt/slides/slide8.xml" Id="R554ca95de4564719" /><Relationship Type="http://schemas.openxmlformats.org/officeDocument/2006/relationships/slide" Target="/ppt/slides/slide9.xml" Id="R15d28c6b6a1c4700" /><Relationship Type="http://schemas.openxmlformats.org/officeDocument/2006/relationships/slide" Target="/ppt/slides/slide10.xml" Id="Re3ec3ab788884f7b" /><Relationship Type="http://schemas.openxmlformats.org/officeDocument/2006/relationships/slide" Target="/ppt/slides/slide11.xml" Id="Re79e7eca551c4d27" /><Relationship Type="http://schemas.openxmlformats.org/officeDocument/2006/relationships/slide" Target="/ppt/slides/slide12.xml" Id="Re6f8e1232d5a4846" /><Relationship Type="http://schemas.openxmlformats.org/officeDocument/2006/relationships/slide" Target="/ppt/slides/slide13.xml" Id="R6d549147e45b4b10" /><Relationship Type="http://schemas.openxmlformats.org/officeDocument/2006/relationships/slide" Target="/ppt/slides/slide14.xml" Id="R82c38cb0f776470e" /><Relationship Type="http://schemas.openxmlformats.org/officeDocument/2006/relationships/slide" Target="/ppt/slides/slide15.xml" Id="R7b289ad845f142b9" /><Relationship Type="http://schemas.openxmlformats.org/officeDocument/2006/relationships/slide" Target="/ppt/slides/slide16.xml" Id="R58edc100bffb475a"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7a3f365defd2496b"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1ad625eec9d14926" /><Relationship Type="http://schemas.openxmlformats.org/officeDocument/2006/relationships/notesMaster" Target="/ppt/notesMasters/notesMaster1.xml" Id="R43f4c50fac154377" /></Relationships>
</file>

<file path=ppt/notesSlides/_rels/notesSlide2.xml.rels>&#65279;<?xml version="1.0" encoding="utf-8"?><Relationships xmlns="http://schemas.openxmlformats.org/package/2006/relationships"><Relationship Type="http://schemas.openxmlformats.org/officeDocument/2006/relationships/slide" Target="/ppt/slides/slide2.xml" Id="R0f1cff5dd37a466b" /><Relationship Type="http://schemas.openxmlformats.org/officeDocument/2006/relationships/notesMaster" Target="/ppt/notesMasters/notesMaster1.xml" Id="Rbc69ff5f5a2b41ac" /></Relationships>
</file>

<file path=ppt/notesSlides/_rels/notesSlide3.xml.rels>&#65279;<?xml version="1.0" encoding="utf-8"?><Relationships xmlns="http://schemas.openxmlformats.org/package/2006/relationships"><Relationship Type="http://schemas.openxmlformats.org/officeDocument/2006/relationships/slide" Target="/ppt/slides/slide3.xml" Id="R667cad3249bd462e" /><Relationship Type="http://schemas.openxmlformats.org/officeDocument/2006/relationships/notesMaster" Target="/ppt/notesMasters/notesMaster1.xml" Id="Rc59ec27878ba46b3" /></Relationships>
</file>

<file path=ppt/notesSlides/_rels/notesSlide4.xml.rels>&#65279;<?xml version="1.0" encoding="utf-8"?><Relationships xmlns="http://schemas.openxmlformats.org/package/2006/relationships"><Relationship Type="http://schemas.openxmlformats.org/officeDocument/2006/relationships/slide" Target="/ppt/slides/slide4.xml" Id="R987f62ad7e4b4a42" /><Relationship Type="http://schemas.openxmlformats.org/officeDocument/2006/relationships/notesMaster" Target="/ppt/notesMasters/notesMaster1.xml" Id="Rb6acf41f4ed24866" /></Relationships>
</file>

<file path=ppt/notesSlides/_rels/notesSlide5.xml.rels>&#65279;<?xml version="1.0" encoding="utf-8"?><Relationships xmlns="http://schemas.openxmlformats.org/package/2006/relationships"><Relationship Type="http://schemas.openxmlformats.org/officeDocument/2006/relationships/slide" Target="/ppt/slides/slide5.xml" Id="R0c2172c55cc14e7d" /><Relationship Type="http://schemas.openxmlformats.org/officeDocument/2006/relationships/notesMaster" Target="/ppt/notesMasters/notesMaster1.xml" Id="R33ad5679947b48b1" /></Relationships>
</file>

<file path=ppt/notesSlides/_rels/notesSlide6.xml.rels>&#65279;<?xml version="1.0" encoding="utf-8"?><Relationships xmlns="http://schemas.openxmlformats.org/package/2006/relationships"><Relationship Type="http://schemas.openxmlformats.org/officeDocument/2006/relationships/slide" Target="/ppt/slides/slide6.xml" Id="R3300a6f2a61c4303" /><Relationship Type="http://schemas.openxmlformats.org/officeDocument/2006/relationships/notesMaster" Target="/ppt/notesMasters/notesMaster1.xml" Id="R5a557859b6944e84" /></Relationships>
</file>

<file path=ppt/notesSlides/_rels/notesSlide7.xml.rels>&#65279;<?xml version="1.0" encoding="utf-8"?><Relationships xmlns="http://schemas.openxmlformats.org/package/2006/relationships"><Relationship Type="http://schemas.openxmlformats.org/officeDocument/2006/relationships/slide" Target="/ppt/slides/slide7.xml" Id="R0a5c259412a54893" /><Relationship Type="http://schemas.openxmlformats.org/officeDocument/2006/relationships/notesMaster" Target="/ppt/notesMasters/notesMaster1.xml" Id="Rb315f9ade0614636" /></Relationships>
</file>

<file path=ppt/notesSlides/_rels/notesSlide8.xml.rels>&#65279;<?xml version="1.0" encoding="utf-8"?><Relationships xmlns="http://schemas.openxmlformats.org/package/2006/relationships"><Relationship Type="http://schemas.openxmlformats.org/officeDocument/2006/relationships/slide" Target="/ppt/slides/slide8.xml" Id="R06a6a01fe4884c61" /><Relationship Type="http://schemas.openxmlformats.org/officeDocument/2006/relationships/notesMaster" Target="/ppt/notesMasters/notesMaster1.xml" Id="Raadeb45b5fe14416" /></Relationships>
</file>

<file path=ppt/notesSlides/_rels/notesSlide9.xml.rels>&#65279;<?xml version="1.0" encoding="utf-8"?><Relationships xmlns="http://schemas.openxmlformats.org/package/2006/relationships"><Relationship Type="http://schemas.openxmlformats.org/officeDocument/2006/relationships/slide" Target="/ppt/slides/slide9.xml" Id="Reeeccd2851a64fdc" /><Relationship Type="http://schemas.openxmlformats.org/officeDocument/2006/relationships/notesMaster" Target="/ppt/notesMasters/notesMaster1.xml" Id="R70a4aebe73024900"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4182cf8b635b4b82" /><Relationship Type="http://schemas.openxmlformats.org/officeDocument/2006/relationships/notesMaster" Target="/ppt/notesMasters/notesMaster1.xml" Id="R9214fc8e2dc24026"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cb8d0160d4164ee0" /><Relationship Type="http://schemas.openxmlformats.org/officeDocument/2006/relationships/notesMaster" Target="/ppt/notesMasters/notesMaster1.xml" Id="Rf1b0a934a01949e1"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264b7917bb10496c" /><Relationship Type="http://schemas.openxmlformats.org/officeDocument/2006/relationships/notesMaster" Target="/ppt/notesMasters/notesMaster1.xml" Id="Rad0afe68ae214208"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13b1d8100a9745a9" /><Relationship Type="http://schemas.openxmlformats.org/officeDocument/2006/relationships/notesMaster" Target="/ppt/notesMasters/notesMaster1.xml" Id="Rf257389a89054c85"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6dd151ad22ae49b9" /><Relationship Type="http://schemas.openxmlformats.org/officeDocument/2006/relationships/notesMaster" Target="/ppt/notesMasters/notesMaster1.xml" Id="R4467ce53083e4d2a"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3a3a34b4c0624cc7" /><Relationship Type="http://schemas.openxmlformats.org/officeDocument/2006/relationships/notesMaster" Target="/ppt/notesMasters/notesMaster1.xml" Id="R7ad5a8d33c1e4f88"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36c0e994281f4367" /><Relationship Type="http://schemas.openxmlformats.org/officeDocument/2006/relationships/notesMaster" Target="/ppt/notesMasters/notesMaster1.xml" Id="R90015e96c803474b"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00:00–00:40</a:t>
            </a:r>
          </a:p>
          <a:p xmlns:a="http://schemas.openxmlformats.org/drawingml/2006/main">
            <a:r>
              <a:t/>
            </a:r>
          </a:p>
          <a:p xmlns:a="http://schemas.openxmlformats.org/drawingml/2006/main">
            <a:r>
              <a:t>CANOVACCIO: Una curiosità linguistica come ingresso nella mechanistic interpretability.</a:t>
            </a:r>
          </a:p>
          <a:p xmlns:a="http://schemas.openxmlformats.org/drawingml/2006/main">
            <a:r>
              <a:t/>
            </a:r>
          </a:p>
          <a:p xmlns:a="http://schemas.openxmlformats.org/drawingml/2006/main">
            <a:r>
              <a:t>Questo progetto nasce da una curiosità molto semplice: che cosa succede dentro un modello linguistico quando una frase lo porta nella direzione sbagliata? Ho usato questa domanda per imparare a fare mechanistic interpretability, cioè per provare a collegare quello che un modello fa alle operazioni che avvengono al suo interno. Vi racconto il percorso: una frase, una misura, alcuni interventi sul modello e un risultato che ho dovuto interpretare con più cautela di quanto pensassi all’inizio. Per seguire il ragionamento basta avere presente che un modello assegna probabilità al prossimo token. Cominciamo leggendo una frase.</a:t>
            </a:r>
          </a:p>
          <a:p xmlns:a="http://schemas.openxmlformats.org/drawingml/2006/main">
            <a:r>
              <a:t/>
            </a:r>
          </a:p>
          <a:p xmlns:a="http://schemas.openxmlformats.org/drawingml/2006/main">
            <a:r>
              <a:t>PASSAGGIO: Cominciamo leggendo una frase.</a:t>
            </a:r>
          </a:p>
          <a:p xmlns:a="http://schemas.openxmlformats.org/drawingml/2006/main">
            <a:r>
              <a:t/>
            </a:r>
          </a:p>
          <a:p xmlns:a="http://schemas.openxmlformats.org/drawingml/2006/main">
            <a:r>
              <a:t>FONTI: README.md; LW.md</a:t>
            </a:r>
          </a:p>
          <a:p xmlns:a="http://schemas.openxmlformats.org/drawingml/2006/main">
            <a:r>
              <a:t>Repository: https://github.com/lucamattiazzi/garden_path_sentences</a:t>
            </a:r>
          </a:p>
          <a:p xmlns:a="http://schemas.openxmlformats.org/drawingml/2006/main">
            <a:r>
              <a:t>Il materiale segue l'audit e il protocollo locali aggiornati, non tutte le interpretazioni del post iniziale.</a:t>
            </a:r>
          </a:p>
          <a:p xmlns:a="http://schemas.openxmlformats.org/drawingml/2006/main">
            <a:r>
              <a:t>Stile: https://grokked.it/ (tema chiaro, consultato 1 ottobre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00:40–02:10</a:t>
            </a:r>
          </a:p>
          <a:p xmlns:a="http://schemas.openxmlformats.org/drawingml/2006/main">
            <a:r>
              <a:t/>
            </a:r>
          </a:p>
          <a:p xmlns:a="http://schemas.openxmlformats.org/drawingml/2006/main">
            <a:r>
              <a:t>CANOVACCIO: Lascia leggere. Poi spiega: the old = gli anziani, man = governano.</a:t>
            </a:r>
          </a:p>
          <a:p xmlns:a="http://schemas.openxmlformats.org/drawingml/2006/main">
            <a:r>
              <a:t/>
            </a:r>
          </a:p>
          <a:p xmlns:a="http://schemas.openxmlformats.org/drawingml/2006/main">
            <a:r>
              <a:t>Vi lascio qualche secondo per leggerla. [Pausa di 5 secondi.] The old man the boat. Se vi sembra che manchi qualcosa, è proprio l’effetto che mi interessa. Iniziamo leggendo the old man come il vecchio, una persona anziana. Poi arriva un altro the, e quella lettura non ci aiuta più. La frase è grammaticale: the old significa gli anziani, mentre man è un verbo, nel senso di governare o equipaggiare la barca. Gli anziani governano la barca. Una garden-path sentence ci invita a costruire un’interpretazione plausibile che, andando avanti, dobbiamo rivedere. L’esempio è in inglese perché l’esperimento usa ambiguità dell’inglese, non perché il fenomeno riguardi solo questa lingua. [Indica man e il secondo the.] Qui abbiamo una parola ambigua e un indizio successivo che chiarisce come leggerla. Non tutti i lettori sentiranno la stessa difficoltà, soprattutto se conoscono già l’esempio. Ed è già una prima lezione sperimentale: una frase famosa è un ottimo modo per spiegare il problema, ma da sola è un pessimo benchmark. Vorrei capire che cosa cambia dentro il modello quando arriva questo indizio.</a:t>
            </a:r>
          </a:p>
          <a:p xmlns:a="http://schemas.openxmlformats.org/drawingml/2006/main">
            <a:r>
              <a:t/>
            </a:r>
          </a:p>
          <a:p xmlns:a="http://schemas.openxmlformats.org/drawingml/2006/main">
            <a:r>
              <a:t>PASSAGGIO: Vorrei capire che cosa cambia dentro il modello quando arriva questo indizio.</a:t>
            </a:r>
          </a:p>
          <a:p xmlns:a="http://schemas.openxmlformats.org/drawingml/2006/main">
            <a:r>
              <a:t/>
            </a:r>
          </a:p>
          <a:p xmlns:a="http://schemas.openxmlformats.org/drawingml/2006/main">
            <a:r>
              <a:t>FONTI: model_finder/sentences.py, item 16</a:t>
            </a:r>
          </a:p>
          <a:p xmlns:a="http://schemas.openxmlformats.org/drawingml/2006/main">
            <a:r>
              <a:t>Repository: https://github.com/lucamattiazzi/garden_path_sentences</a:t>
            </a:r>
          </a:p>
          <a:p xmlns:a="http://schemas.openxmlformats.org/drawingml/2006/main">
            <a:r>
              <a:t>Il materiale segue l'audit e il protocollo locali aggiornati, non tutte le interpretazioni del post iniziale.</a:t>
            </a:r>
          </a:p>
          <a:p xmlns:a="http://schemas.openxmlformats.org/drawingml/2006/main">
            <a:r>
              <a:t>Stile: https://grokked.it/ (tema chiaro, consultato 1 ottobre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02:10–03:30</a:t>
            </a:r>
          </a:p>
          <a:p xmlns:a="http://schemas.openxmlformats.org/drawingml/2006/main">
            <a:r>
              <a:t/>
            </a:r>
          </a:p>
          <a:p xmlns:a="http://schemas.openxmlformats.org/drawingml/2006/main">
            <a:r>
              <a:t>CANOVACCIO: Attention legge il passato. I token futuri non riscrivono gli stati delle posizioni precedenti.</a:t>
            </a:r>
          </a:p>
          <a:p xmlns:a="http://schemas.openxmlformats.org/drawingml/2006/main">
            <a:r>
              <a:t/>
            </a:r>
          </a:p>
          <a:p xmlns:a="http://schemas.openxmlformats.org/drawingml/2006/main">
            <a:r>
              <a:t>Prima di parlare degli esperimenti, una precisazione sul transformer. Ogni token ha una rappresentazione numerica che attraversa diversi layer. L’attention permette a una posizione di usare informazione dalle posizioni precedenti e da se stessa. Le MLP trasformano la rappresentazione di ciascuna posizione. I contributi confluiscono nel residual stream, lo stato che i vari blocchi leggono e modificano. Alla fine otteniamo i punteggi da cui derivano le probabilità dei token successivi. Dire che un modello autoregressivo non può tornare indietro è una scorciatoia fuorviante. Può consultare il contesto precedente tramite attention. Il vincolo è un altro: un token futuro non modifica gli stati già calcolati alle posizioni precedenti. Quindi, se cambia l’interpretazione della frase, questo cambiamento deve comparire nelle rappresentazioni di posizioni successive. La domanda interessante è dove troviamo informazione utile alla nuova lettura e quale ruolo causale abbia. Anche la parola causale va intesa qui in senso sperimentale: intervengo su una parte del calcolo e osservo se cambia l’output. Per cercare questo cambiamento serve prima una misura osservabile.</a:t>
            </a:r>
          </a:p>
          <a:p xmlns:a="http://schemas.openxmlformats.org/drawingml/2006/main">
            <a:r>
              <a:t/>
            </a:r>
          </a:p>
          <a:p xmlns:a="http://schemas.openxmlformats.org/drawingml/2006/main">
            <a:r>
              <a:t>PASSAGGIO: Per cercare questo cambiamento serve prima una misura osservabile.</a:t>
            </a:r>
          </a:p>
          <a:p xmlns:a="http://schemas.openxmlformats.org/drawingml/2006/main">
            <a:r>
              <a:t/>
            </a:r>
          </a:p>
          <a:p xmlns:a="http://schemas.openxmlformats.org/drawingml/2006/main">
            <a:r>
              <a:t>FONTI: model_finder/arch.py; qwen4b/scripts/_extra.py; LW.md</a:t>
            </a:r>
          </a:p>
          <a:p xmlns:a="http://schemas.openxmlformats.org/drawingml/2006/main">
            <a:r>
              <a:t>Repository: https://github.com/lucamattiazzi/garden_path_sentences</a:t>
            </a:r>
          </a:p>
          <a:p xmlns:a="http://schemas.openxmlformats.org/drawingml/2006/main">
            <a:r>
              <a:t>Il materiale segue l'audit e il protocollo locali aggiornati, non tutte le interpretazioni del post iniziale.</a:t>
            </a:r>
          </a:p>
          <a:p xmlns:a="http://schemas.openxmlformats.org/drawingml/2006/main">
            <a:r>
              <a:t>Stile: https://grokked.it/ (tema chiaro, consultato 1 ottobre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03:30–05:00</a:t>
            </a:r>
          </a:p>
          <a:p xmlns:a="http://schemas.openxmlformats.org/drawingml/2006/main">
            <a:r>
              <a:t/>
            </a:r>
          </a:p>
          <a:p xmlns:a="http://schemas.openxmlformats.org/drawingml/2006/main">
            <a:r>
              <a:t>CANOVACCIO: S = −ln P. Esempio didattico: 0,1 dà 2,30 nats; 0,01 dà 4,61.</a:t>
            </a:r>
          </a:p>
          <a:p xmlns:a="http://schemas.openxmlformats.org/drawingml/2006/main">
            <a:r>
              <a:t/>
            </a:r>
          </a:p>
          <a:p xmlns:a="http://schemas.openxmlformats.org/drawingml/2006/main">
            <a:r>
              <a:t>La misura di partenza è la surprisal: il logaritmo negativo della probabilità di una parola dato il testo che la precede. Se il modello assegna poca probabilità alla parola che arriva davvero, la surprisal è alta. Se quella parola era molto attesa, è bassa. Usiamo il logaritmo naturale, quindi l’unità è il nat. Un esempio puramente numerico: probabilità dieci per cento significa circa 2,30 nats. Probabilità uno per cento significa circa 4,61. Non sono risultati del progetto, servono solo a dare un significato alla formula. Nel codice le parole possono essere divise in più token. In quel caso sommo le surprisal dei token che compongono la parola, ciascuno condizionato su quello che lo precede. Non chiedo al modello quanto si sente sorpreso: leggo direttamente le probabilità. E la surprisal non misura il tempo impiegato dal modello, né è una procedura che lo costringe a ragionare di più. È una descrizione della sua previsione. Per l’esperimento mi interessa soprattutto una differenza: quanto cambia questa misura fra la frase ambigua e una versione più esplicita? A questo punto costruisco il confronto.</a:t>
            </a:r>
          </a:p>
          <a:p xmlns:a="http://schemas.openxmlformats.org/drawingml/2006/main">
            <a:r>
              <a:t/>
            </a:r>
          </a:p>
          <a:p xmlns:a="http://schemas.openxmlformats.org/drawingml/2006/main">
            <a:r>
              <a:t>PASSAGGIO: A questo punto costruisco il confronto fra frase ambigua e controllo.</a:t>
            </a:r>
          </a:p>
          <a:p xmlns:a="http://schemas.openxmlformats.org/drawingml/2006/main">
            <a:r>
              <a:t/>
            </a:r>
          </a:p>
          <a:p xmlns:a="http://schemas.openxmlformats.org/drawingml/2006/main">
            <a:r>
              <a:t>FONTI: model_finder/surprisal.py: surprisal, critical_token_positions</a:t>
            </a:r>
          </a:p>
          <a:p xmlns:a="http://schemas.openxmlformats.org/drawingml/2006/main">
            <a:r>
              <a:t>Repository: https://github.com/lucamattiazzi/garden_path_sentences</a:t>
            </a:r>
          </a:p>
          <a:p xmlns:a="http://schemas.openxmlformats.org/drawingml/2006/main">
            <a:r>
              <a:t>Il materiale segue l'audit e il protocollo locali aggiornati, non tutte le interpretazioni del post iniziale.</a:t>
            </a:r>
          </a:p>
          <a:p xmlns:a="http://schemas.openxmlformats.org/drawingml/2006/main">
            <a:r>
              <a:t>Stile: https://grokked.it/ (tema chiaro, consultato 1 ottobre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05:00–06:20</a:t>
            </a:r>
          </a:p>
          <a:p xmlns:a="http://schemas.openxmlformats.org/drawingml/2006/main">
            <a:r>
              <a:t/>
            </a:r>
          </a:p>
          <a:p xmlns:a="http://schemas.openxmlformats.org/drawingml/2006/main">
            <a:r>
              <a:t>CANOVACCIO: GPS / normale. Il secondo the e boat misurano aspetti diversi della previsione.</a:t>
            </a:r>
          </a:p>
          <a:p xmlns:a="http://schemas.openxmlformats.org/drawingml/2006/main">
            <a:r>
              <a:t/>
            </a:r>
          </a:p>
          <a:p xmlns:a="http://schemas.openxmlformats.org/drawingml/2006/main">
            <a:r>
              <a:t>Confronto The old man the boat con The old people man the boat. La parola people rende più esplicito il soggetto e aiuta a leggere man come verbo. Osservo due punti. Il primo è il secondo the, cioè l’indizio che mette in difficoltà la lettura iniziale. Il secondo è boat, la continuazione dopo quell’indizio. La differenza di surprisal è sempre frase ambigua meno frase normale. Se è positiva, quella parola è meno attesa nel contesto ambiguo. L’intuizione iniziale era: se il modello ha interpretato man come verbo, forse boat diventa più facile da prevedere. È un’intuizione utile per costruire una misura, ma richiede subito un limite. Boat può essere previsto anche grazie ad associazioni lessicali. Inoltre aggiungere people cambia la lunghezza, il contesto e le associazioni fra parole, oltre alla struttura. Il confronto è informativo, ma non isola automaticamente la sintassi. Nel resto del talk chiamerò quindi questa seconda misura costo di continuazione. È il nome di ciò che misuro, senza anticipare una conclusione sulla comprensione. Ho ripetuto questo schema su più frasi e più modelli.</a:t>
            </a:r>
          </a:p>
          <a:p xmlns:a="http://schemas.openxmlformats.org/drawingml/2006/main">
            <a:r>
              <a:t/>
            </a:r>
          </a:p>
          <a:p xmlns:a="http://schemas.openxmlformats.org/drawingml/2006/main">
            <a:r>
              <a:t>PASSAGGIO: Ho ripetuto questo schema su più frasi e più modelli.</a:t>
            </a:r>
          </a:p>
          <a:p xmlns:a="http://schemas.openxmlformats.org/drawingml/2006/main">
            <a:r>
              <a:t/>
            </a:r>
          </a:p>
          <a:p xmlns:a="http://schemas.openxmlformats.org/drawingml/2006/main">
            <a:r>
              <a:t>FONTI: model_finder/sentences.py; qwen4b/scripts/04_predict.py</a:t>
            </a:r>
          </a:p>
          <a:p xmlns:a="http://schemas.openxmlformats.org/drawingml/2006/main">
            <a:r>
              <a:t>Repository: https://github.com/lucamattiazzi/garden_path_sentences</a:t>
            </a:r>
          </a:p>
          <a:p xmlns:a="http://schemas.openxmlformats.org/drawingml/2006/main">
            <a:r>
              <a:t>Il materiale segue l'audit e il protocollo locali aggiornati, non tutte le interpretazioni del post iniziale.</a:t>
            </a:r>
          </a:p>
          <a:p xmlns:a="http://schemas.openxmlformats.org/drawingml/2006/main">
            <a:r>
              <a:t>Stile: https://grokked.it/ (tema chiaro, consultato 1 ottobre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06:20–07:40</a:t>
            </a:r>
          </a:p>
          <a:p xmlns:a="http://schemas.openxmlformats.org/drawingml/2006/main">
            <a:r>
              <a:t/>
            </a:r>
          </a:p>
          <a:p xmlns:a="http://schemas.openxmlformats.org/drawingml/2006/main">
            <a:r>
              <a:t>CANOVACCIO: 50 coppie / 5 costruzioni. Patching: 20 NV. Qwen e Gemma base.</a:t>
            </a:r>
          </a:p>
          <a:p xmlns:a="http://schemas.openxmlformats.org/drawingml/2006/main">
            <a:r>
              <a:t/>
            </a:r>
          </a:p>
          <a:p xmlns:a="http://schemas.openxmlformats.org/drawingml/2006/main">
            <a:r>
              <a:t>Il dataset storico contiene cinquanta coppie di frasi distribuite su cinque costruzioni sintattiche. Non sono cinquanta esempi tutti uguali a quello della barca. Ci sono relative ridotte, ambiguità fra nome e verbo, fra oggetto e proposizione, fra verbo transitivo e intransitivo, e ambiguità nella coordinazione. Per gli esperimenti sulla continuazione mi concentro sulle dieci coppie nome-verbo e aggiungo altre dieci coppie scritte per il progetto. Il patching che vedremo usa quindi venti coppie, non tutte e cinquanta. Ho iniziato con Qwen3 base da quattro e quattordici miliardi di parametri, poi ho usato Gemma 3 pretrained da uno, quattro, dodici e ventisette miliardi. Sono checkpoint base: misuro la previsione della continuazione, senza passare da un assistente e dalle sue risposte in chat. Le dimensioni diverse permettono un confronto descrittivo, ma non costituiscono un esperimento in cui cambia soltanto il numero dei parametri. Cambiano anche profondità e altri aspetti del modello. E queste frasi sono materiali esplorativi, non un benchmark già validato da lettori indipendenti. Il primo risultato riguarda le probabilità, prima ancora di toccare il modello.</a:t>
            </a:r>
          </a:p>
          <a:p xmlns:a="http://schemas.openxmlformats.org/drawingml/2006/main">
            <a:r>
              <a:t/>
            </a:r>
          </a:p>
          <a:p xmlns:a="http://schemas.openxmlformats.org/drawingml/2006/main">
            <a:r>
              <a:t>PASSAGGIO: Il primo risultato riguarda le probabilità, prima ancora di toccare il modello.</a:t>
            </a:r>
          </a:p>
          <a:p xmlns:a="http://schemas.openxmlformats.org/drawingml/2006/main">
            <a:r>
              <a:t/>
            </a:r>
          </a:p>
          <a:p xmlns:a="http://schemas.openxmlformats.org/drawingml/2006/main">
            <a:r>
              <a:t>FONTI: model_finder/sentences.py; model_finder/novel_pairs.py; */scripts/_common.py; */logs/11_patching.json</a:t>
            </a:r>
          </a:p>
          <a:p xmlns:a="http://schemas.openxmlformats.org/drawingml/2006/main">
            <a:r>
              <a:t>Repository: https://github.com/lucamattiazzi/garden_path_sentences</a:t>
            </a:r>
          </a:p>
          <a:p xmlns:a="http://schemas.openxmlformats.org/drawingml/2006/main">
            <a:r>
              <a:t>Il materiale segue l'audit e il protocollo locali aggiornati, non tutte le interpretazioni del post iniziale.</a:t>
            </a:r>
          </a:p>
          <a:p xmlns:a="http://schemas.openxmlformats.org/drawingml/2006/main">
            <a:r>
              <a:t>Stile: https://grokked.it/ (tema chiaro, consultato 1 ottobre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07:40–09:00</a:t>
            </a:r>
          </a:p>
          <a:p xmlns:a="http://schemas.openxmlformats.org/drawingml/2006/main">
            <a:r>
              <a:t/>
            </a:r>
          </a:p>
          <a:p xmlns:a="http://schemas.openxmlformats.org/drawingml/2006/main">
            <a:r>
              <a:t>CANOVACCIO: Grafico Gemma 4B, differenza media alla parola critica. Medie positive, non ogni frase.</a:t>
            </a:r>
          </a:p>
          <a:p xmlns:a="http://schemas.openxmlformats.org/drawingml/2006/main">
            <a:r>
              <a:t/>
            </a:r>
          </a:p>
          <a:p xmlns:a="http://schemas.openxmlformats.org/drawingml/2006/main">
            <a:r>
              <a:t>Questo grafico mostra un esempio concreto, Gemma 3 da quattro miliardi di parametri. Sull’asse verticale c’è la differenza media di surprisal alla parola critica. Le cinque barre corrispondono alle cinque costruzioni del dataset. Tutte le medie sono positive: in questi materiali la parola misurata è mediamente meno attesa nella frase ambigua. Lo stesso segno delle medie compare nei sei modelli principali. Questo non significa che ogni singola frase produca un effetto positivo, né che l’effetto abbia la stessa intensità per tutte le costruzioni. I singoli item sono molto variabili. Non significa nemmeno che abbiamo osservato una revisione sintattica: una previsione può cambiare per ragioni lessicali, di frequenza o di struttura. Il risultato utile è che esiste una differenza predittiva da studiare. Il passo successivo è cercare quali parti del modello contribuiscono a quella differenza. Questa è la transizione dalla sola osservazione del comportamento all’intervento interno: non mi limito a guardare quali attivazioni sono grandi, ma modifico il calcolo e misuro che cosa succede.</a:t>
            </a:r>
          </a:p>
          <a:p xmlns:a="http://schemas.openxmlformats.org/drawingml/2006/main">
            <a:r>
              <a:t/>
            </a:r>
          </a:p>
          <a:p xmlns:a="http://schemas.openxmlformats.org/drawingml/2006/main">
            <a:r>
              <a:t>PASSAGGIO: Ora provo a intervenire sulle parti del modello che potrebbero produrre l’effetto.</a:t>
            </a:r>
          </a:p>
          <a:p xmlns:a="http://schemas.openxmlformats.org/drawingml/2006/main">
            <a:r>
              <a:t/>
            </a:r>
          </a:p>
          <a:p xmlns:a="http://schemas.openxmlformats.org/drawingml/2006/main">
            <a:r>
              <a:t>FONTI: gemma3_4b/logs/01_baseline.json; altri cinque 01_baseline.json</a:t>
            </a:r>
          </a:p>
          <a:p xmlns:a="http://schemas.openxmlformats.org/drawingml/2006/main">
            <a:r>
              <a:t>Repository: https://github.com/lucamattiazzi/garden_path_sentences</a:t>
            </a:r>
          </a:p>
          <a:p xmlns:a="http://schemas.openxmlformats.org/drawingml/2006/main">
            <a:r>
              <a:t>Il materiale segue l'audit e il protocollo locali aggiornati, non tutte le interpretazioni del post iniziale.</a:t>
            </a:r>
          </a:p>
          <a:p xmlns:a="http://schemas.openxmlformats.org/drawingml/2006/main">
            <a:r>
              <a:t>Stile: https://grokked.it/ (tema chiaro, consultato 1 ottobre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09:00–10:20</a:t>
            </a:r>
          </a:p>
          <a:p xmlns:a="http://schemas.openxmlformats.org/drawingml/2006/main">
            <a:r>
              <a:t/>
            </a:r>
          </a:p>
          <a:p xmlns:a="http://schemas.openxmlformats.org/drawingml/2006/main">
            <a:r>
              <a:t>CANOVACCIO: Rimuovi un contributo e rimisura. Nessun circuito specifico stabilito.</a:t>
            </a:r>
          </a:p>
          <a:p xmlns:a="http://schemas.openxmlformats.org/drawingml/2006/main">
            <a:r>
              <a:t/>
            </a:r>
          </a:p>
          <a:p xmlns:a="http://schemas.openxmlformats.org/drawingml/2006/main">
            <a:r>
              <a:t>Il primo strumento è l’ablation. Tolgo il contributo di una testa di attention, oppure di un gruppo più grande, e rimisuro le probabilità. L’idea è intuitiva: se quella componente svolge un lavoro importante per il comportamento che cerco, la sua rimozione dovrebbe avere conseguenze. Ma quali conseguenze? Una testa potrebbe cambiare la sorpresa sul secondo the senza aiutare la previsione di boat. Oppure potrebbe peggiorare un po’ tutte le frasi. Per questo servono misure distinte e controlli. Ho esplorato layer e teste, confrontando anche gli effetti con quelli di teste campionate casualmente e usando interventi diversi, come la sostituzione con un’attivazione media. Il risultato prudente è che non ho stabilito un circuito specifico di rianalisi. Sarebbe scorretto trasformarlo in una prova che quel circuito non esiste. Potrebbe essere distribuito, ridondante, oppure la mia misura potrebbe non distinguere il processo cercato. Anche dire che nessuna testa supera il riferimento casuale sarebbe inesatto: l’audit trova eccezioni. Restano risultati esplorativi, dopo una selezione fra molti candidati. Un secondo intervento consiste nel trasferire uno stato da un’altra esecuzione.</a:t>
            </a:r>
          </a:p>
          <a:p xmlns:a="http://schemas.openxmlformats.org/drawingml/2006/main">
            <a:r>
              <a:t/>
            </a:r>
          </a:p>
          <a:p xmlns:a="http://schemas.openxmlformats.org/drawingml/2006/main">
            <a:r>
              <a:t>PASSAGGIO: Un secondo intervento consiste nel trasferire uno stato da un’altra esecuzione.</a:t>
            </a:r>
          </a:p>
          <a:p xmlns:a="http://schemas.openxmlformats.org/drawingml/2006/main">
            <a:r>
              <a:t/>
            </a:r>
          </a:p>
          <a:p xmlns:a="http://schemas.openxmlformats.org/drawingml/2006/main">
            <a:r>
              <a:t>FONTI: qwen4b/scripts/_ablation.py; research/results/legacy-audit.md; research/PROTOCOL.md</a:t>
            </a:r>
          </a:p>
          <a:p xmlns:a="http://schemas.openxmlformats.org/drawingml/2006/main">
            <a:r>
              <a:t>Repository: https://github.com/lucamattiazzi/garden_path_sentences</a:t>
            </a:r>
          </a:p>
          <a:p xmlns:a="http://schemas.openxmlformats.org/drawingml/2006/main">
            <a:r>
              <a:t>Il materiale segue l'audit e il protocollo locali aggiornati, non tutte le interpretazioni del post iniziale.</a:t>
            </a:r>
          </a:p>
          <a:p xmlns:a="http://schemas.openxmlformats.org/drawingml/2006/main">
            <a:r>
              <a:t>Stile: https://grokked.it/ (tema chiaro, consultato 1 ottobre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10:20–12:00</a:t>
            </a:r>
          </a:p>
          <a:p xmlns:a="http://schemas.openxmlformats.org/drawingml/2006/main">
            <a:r>
              <a:t/>
            </a:r>
          </a:p>
          <a:p xmlns:a="http://schemas.openxmlformats.org/drawingml/2006/main">
            <a:r>
              <a:t>CANOVACCIO: Normale come donor, GPS come target. Copia lo stato di man dopo un layer.</a:t>
            </a:r>
          </a:p>
          <a:p xmlns:a="http://schemas.openxmlformats.org/drawingml/2006/main">
            <a:r>
              <a:t/>
            </a:r>
          </a:p>
          <a:p xmlns:a="http://schemas.openxmlformats.org/drawingml/2006/main">
            <a:r>
              <a:t>Faccio prima leggere al modello la frase normale e salvo i suoi stati interni. Poi gli faccio leggere la frase ambigua. In questa seconda esecuzione sostituisco uno stato con quello ottenuto dalla prima. È activation patching. Il modello e i pesi sono gli stessi, cambia il contesto da cui proviene l’attivazione che inserisco. Nel caso principale copio lo stato alla parola man, all’uscita di un layer, e lascio proseguire il calcolo. Ripeto l’intervento separatamente a ogni layer e misuro la surprisal della continuazione boat. Gli indici delle posizioni non coincidono necessariamente, perché la frase normale contiene people in più: devo allineare le parole e i relativi token. La domanda è se questo trasferimento renda la previsione della frase ambigua più simile a quella normale. È un intervento piuttosto ampio: copio l’intero vettore del residual stream a quella posizione, non un bit che significa verbo. Dentro quel vettore possono esserci informazioni lessicali, semantiche, posizionali e sintattiche mescolate. Inoltre lo stato di man precede l’indizio, il secondo the. Quindi può influenzare il modo in cui le posizioni successive useranno quella parola, ma non descrive da solo una correzione già avvenuta dopo l’indizio. Guardiamo quanto gap recupera questo trasferimento.</a:t>
            </a:r>
          </a:p>
          <a:p xmlns:a="http://schemas.openxmlformats.org/drawingml/2006/main">
            <a:r>
              <a:t/>
            </a:r>
          </a:p>
          <a:p xmlns:a="http://schemas.openxmlformats.org/drawingml/2006/main">
            <a:r>
              <a:t>PASSAGGIO: Guardiamo quanto gap recupera questo trasferimento.</a:t>
            </a:r>
          </a:p>
          <a:p xmlns:a="http://schemas.openxmlformats.org/drawingml/2006/main">
            <a:r>
              <a:t/>
            </a:r>
          </a:p>
          <a:p xmlns:a="http://schemas.openxmlformats.org/drawingml/2006/main">
            <a:r>
              <a:t>FONTI: qwen4b/scripts/_extra.py: _CaptureLayers, _PatchLayerPositions, run_patching_sweep</a:t>
            </a:r>
          </a:p>
          <a:p xmlns:a="http://schemas.openxmlformats.org/drawingml/2006/main">
            <a:r>
              <a:t>Repository: https://github.com/lucamattiazzi/garden_path_sentences</a:t>
            </a:r>
          </a:p>
          <a:p xmlns:a="http://schemas.openxmlformats.org/drawingml/2006/main">
            <a:r>
              <a:t>Il materiale segue l'audit e il protocollo locali aggiornati, non tutte le interpretazioni del post iniziale.</a:t>
            </a:r>
          </a:p>
          <a:p xmlns:a="http://schemas.openxmlformats.org/drawingml/2006/main">
            <a:r>
              <a:t>Stile: https://grokked.it/ (tema chiaro, consultato 1 ottobre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12:00–13:40</a:t>
            </a:r>
          </a:p>
          <a:p xmlns:a="http://schemas.openxmlformats.org/drawingml/2006/main">
            <a:r>
              <a:t/>
            </a:r>
          </a:p>
          <a:p xmlns:a="http://schemas.openxmlformats.org/drawingml/2006/main">
            <a:r>
              <a:t>CANOVACCIO: 58%, 51%, 45%, 59%. Picchi descrittivi del patch su man, 20 coppie.</a:t>
            </a:r>
          </a:p>
          <a:p xmlns:a="http://schemas.openxmlformats.org/drawingml/2006/main">
            <a:r>
              <a:t/>
            </a:r>
          </a:p>
          <a:p xmlns:a="http://schemas.openxmlformats.org/drawingml/2006/main">
            <a:r>
              <a:t>Definisco recupero la riduzione della surprisal ottenuta con il patch, divisa per il gap iniziale fra frase ambigua e normale. Calcolo il rapporto sulle medie delle venti coppie. Zero significa nessun recupero, uno significa che in media raggiungo la surprisal della versione normale. Non è una percentuale di frasi comprese correttamente. Nella tabella vedete il massimo della curva per ciascuna taglia di Gemma. Nel modello da un miliardo il picco è al layer due e recupera circa il cinquantotto per cento. Nel quattro miliardi è ancora al layer due, circa il cinquantuno per cento. Nel dodici miliardi è al layer ventiquattro, circa il quarantacinque per cento. Nel ventisette miliardi è al ventotto, circa il cinquantanove per cento. Gli indici partono da zero, e le profondità totali sono diverse. Sono massimi selezionati guardando la curva sugli stessi dati: li presento come descrizioni, senza attribuire loro una precisione inferenziale che l’esperimento non ha. L’intervento modifica in modo sostanziale la previsione della continuazione. Ed è interessante che la sensibilità al trasferimento compaia a profondità diverse. Questa tabella invita a una storia interessante. Bisogna capire se i dati la identificano davvero.</a:t>
            </a:r>
          </a:p>
          <a:p xmlns:a="http://schemas.openxmlformats.org/drawingml/2006/main">
            <a:r>
              <a:t/>
            </a:r>
          </a:p>
          <a:p xmlns:a="http://schemas.openxmlformats.org/drawingml/2006/main">
            <a:r>
              <a:t>PASSAGGIO: Questa tabella invita a una storia interessante. Bisogna capire se i dati la identificano davvero.</a:t>
            </a:r>
          </a:p>
          <a:p xmlns:a="http://schemas.openxmlformats.org/drawingml/2006/main">
            <a:r>
              <a:t/>
            </a:r>
          </a:p>
          <a:p xmlns:a="http://schemas.openxmlformats.org/drawingml/2006/main">
            <a:r>
              <a:t>FONTI: gemma3_{1b,4b,12b,27b}/logs/11_patching.json: recovery_v_amb</a:t>
            </a:r>
          </a:p>
          <a:p xmlns:a="http://schemas.openxmlformats.org/drawingml/2006/main">
            <a:r>
              <a:t>Repository: https://github.com/lucamattiazzi/garden_path_sentences</a:t>
            </a:r>
          </a:p>
          <a:p xmlns:a="http://schemas.openxmlformats.org/drawingml/2006/main">
            <a:r>
              <a:t>Il materiale segue l'audit e il protocollo locali aggiornati, non tutte le interpretazioni del post iniziale.</a:t>
            </a:r>
          </a:p>
          <a:p xmlns:a="http://schemas.openxmlformats.org/drawingml/2006/main">
            <a:r>
              <a:t>Stile: https://grokked.it/ (tema chiaro, consultato 1 ottobre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13:40–15:00</a:t>
            </a:r>
          </a:p>
          <a:p xmlns:a="http://schemas.openxmlformats.org/drawingml/2006/main">
            <a:r>
              <a:t/>
            </a:r>
          </a:p>
          <a:p xmlns:a="http://schemas.openxmlformats.org/drawingml/2006/main">
            <a:r>
              <a:t>CANOVACCIO: Profondità del picco ≠ momento della decisione. Stato completo ≠ sola sintassi.</a:t>
            </a:r>
          </a:p>
          <a:p xmlns:a="http://schemas.openxmlformats.org/drawingml/2006/main">
            <a:r>
              <a:t/>
            </a:r>
          </a:p>
          <a:p xmlns:a="http://schemas.openxmlformats.org/drawingml/2006/main">
            <a:r>
              <a:t>La mia prima interpretazione era che i modelli piccoli decidessero subito il significato della parola e quelli grandi mantenessero l’ambiguità aperta più a lungo. È una lettura intuitiva del grafico, ed è anche quella che avevo dato nel post originale. Riguardando il disegno sperimentale, però, è una conclusione troppo forte. Un picco di efficacia del patch localizza una sensibilità a quell’intervento e a quella misura. Non identifica automaticamente il punto in cui il modello si impegna su una lettura. Cambiano la forma delle rappresentazioni, il modo in cui le informazioni vengono usate e le possibilità di propagare l’effetto ai layer successivi. Inoltre non stiamo controllando una sola variabile fra taglie diverse. Il risultato che mantengo è più preciso: trasferire stati dalla frase normale modifica il costo di continuazione, con profili diversi fra modelli. Per parlare di rianalisi devo fare un passo ulteriore e collegare quell’informazione a un comportamento che distingua le interpretazioni. Questa revisione è parte del progetto: imparare uno strumento comprende anche imparare quali domande il suo risultato lascia aperte. C’è anche un caso in cui un recupero perfetto ci insegna meno del previsto.</a:t>
            </a:r>
          </a:p>
          <a:p xmlns:a="http://schemas.openxmlformats.org/drawingml/2006/main">
            <a:r>
              <a:t/>
            </a:r>
          </a:p>
          <a:p xmlns:a="http://schemas.openxmlformats.org/drawingml/2006/main">
            <a:r>
              <a:t>PASSAGGIO: C’è anche un caso in cui un recupero perfetto ci insegna meno del previsto.</a:t>
            </a:r>
          </a:p>
          <a:p xmlns:a="http://schemas.openxmlformats.org/drawingml/2006/main">
            <a:r>
              <a:t/>
            </a:r>
          </a:p>
          <a:p xmlns:a="http://schemas.openxmlformats.org/drawingml/2006/main">
            <a:r>
              <a:t>FONTI: LW.md; research/PROTOCOL.md; research/results/legacy-audit.md</a:t>
            </a:r>
          </a:p>
          <a:p xmlns:a="http://schemas.openxmlformats.org/drawingml/2006/main">
            <a:r>
              <a:t>Repository: https://github.com/lucamattiazzi/garden_path_sentences</a:t>
            </a:r>
          </a:p>
          <a:p xmlns:a="http://schemas.openxmlformats.org/drawingml/2006/main">
            <a:r>
              <a:t>Il materiale segue l'audit e il protocollo locali aggiornati, non tutte le interpretazioni del post iniziale.</a:t>
            </a:r>
          </a:p>
          <a:p xmlns:a="http://schemas.openxmlformats.org/drawingml/2006/main">
            <a:r>
              <a:t>Stile: https://grokked.it/ (tema chiaro, consultato 1 ottobre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15:00–16:30</a:t>
            </a:r>
          </a:p>
          <a:p xmlns:a="http://schemas.openxmlformats.org/drawingml/2006/main">
            <a:r>
              <a:t/>
            </a:r>
          </a:p>
          <a:p xmlns:a="http://schemas.openxmlformats.org/drawingml/2006/main">
            <a:r>
              <a:t>CANOVACCIO: Ultimo stato prima di boat: copiare il readout può riprodurre la previsione per costruzione.</a:t>
            </a:r>
          </a:p>
          <a:p xmlns:a="http://schemas.openxmlformats.org/drawingml/2006/main">
            <a:r>
              <a:t/>
            </a:r>
          </a:p>
          <a:p xmlns:a="http://schemas.openxmlformats.org/drawingml/2006/main">
            <a:r>
              <a:t>Oltre allo stato di man, ho provato a copiare quello alla parola critica, il secondo the. Se intervengo all’ultimo layer, immediatamente prima della previsione di una continuazione composta da un singolo token, sto copiando proprio il vettore da cui il modello ricava i punteggi del prossimo token. Dopo la stessa normalizzazione finale e la stessa proiezione sul vocabolario, ottengo la stessa distribuzione del donatore. In quel caso un recupero del cento per cento è previsto dalla costruzione dell’intervento. Non ho necessariamente trasferito una regola sintattica: ho trasferito direttamente lo stato che determina la previsione. Il caso a più token richiede attenzione, perché entrano in gioco ulteriori posizioni e passi di previsione. Il punto generale resta: prima di emozionarci per un risultato perfetto, dobbiamo chiederci quanto sia informativo quel controllo. Allo stesso modo, l’assenza di un grande effetto su una testa isolata non dimostra che manchi un meccanismo distribuito. Gli estremi, zero e cento per cento, diventano comprensibili solo se specifichiamo che cosa abbiamo sostituito e quale output stiamo misurando. La prossima misura dovrebbe chiedere qualcosa sulle interpretazioni della frase.</a:t>
            </a:r>
          </a:p>
          <a:p xmlns:a="http://schemas.openxmlformats.org/drawingml/2006/main">
            <a:r>
              <a:t/>
            </a:r>
          </a:p>
          <a:p xmlns:a="http://schemas.openxmlformats.org/drawingml/2006/main">
            <a:r>
              <a:t>PASSAGGIO: La prossima misura dovrebbe chiedere qualcosa sulle interpretazioni della frase.</a:t>
            </a:r>
          </a:p>
          <a:p xmlns:a="http://schemas.openxmlformats.org/drawingml/2006/main">
            <a:r>
              <a:t/>
            </a:r>
          </a:p>
          <a:p xmlns:a="http://schemas.openxmlformats.org/drawingml/2006/main">
            <a:r>
              <a:t>FONTI: qwen4b/scripts/_extra.py; research/results/legacy-audit.md, Patching checks</a:t>
            </a:r>
          </a:p>
          <a:p xmlns:a="http://schemas.openxmlformats.org/drawingml/2006/main">
            <a:r>
              <a:t>Repository: https://github.com/lucamattiazzi/garden_path_sentences</a:t>
            </a:r>
          </a:p>
          <a:p xmlns:a="http://schemas.openxmlformats.org/drawingml/2006/main">
            <a:r>
              <a:t>Il materiale segue l'audit e il protocollo locali aggiornati, non tutte le interpretazioni del post iniziale.</a:t>
            </a:r>
          </a:p>
          <a:p xmlns:a="http://schemas.openxmlformats.org/drawingml/2006/main">
            <a:r>
              <a:t>Stile: https://grokked.it/ (tema chiaro, consultato 1 ottobre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16:30–18:30</a:t>
            </a:r>
          </a:p>
          <a:p xmlns:a="http://schemas.openxmlformats.org/drawingml/2006/main">
            <a:r>
              <a:t/>
            </a:r>
          </a:p>
          <a:p xmlns:a="http://schemas.openxmlformats.org/drawingml/2006/main">
            <a:r>
              <a:t>CANOVACCIO: Pilot NP/S–NP/Z: ruoli, inversioni, ordini A/B, famiglie separate. Preparato, da validare ed eseguire.</a:t>
            </a:r>
          </a:p>
          <a:p xmlns:a="http://schemas.openxmlformats.org/drawingml/2006/main">
            <a:r>
              <a:t/>
            </a:r>
          </a:p>
          <a:p xmlns:a="http://schemas.openxmlformats.org/drawingml/2006/main">
            <a:r>
              <a:t>Ho preparato un pilot con domande sui ruoli degli attori nella frase. Un esempio è: The doctor knew the nurse had arrived at the clinic. La versione più esplicita aggiunge that dopo knew. Posso chiedere chi sapesse dell’arrivo e chi fosse arrivato. Poi inverto dottore e infermiera nella frase di controllo: la lista delle parole resta la stessa, ma le risposte corrette si scambiano. Questo rende insufficiente una strategia che guardi soltanto quali nomi sono presenti. Presento anche le due opzioni in entrambi gli ordini. Se un modello sceglie sempre A, può sembrare corretto nella metà delle presentazioni, ma non supera il criterio che richiede la risposta corretta in entrambi gli ordini. Aggiungo infine una condizione senza frase, per osservare preferenze sulle risposte che non dipendono dal contesto. Il pilot contiene ventiquattro item in dodici famiglie lessicali, con famiglie separate per esplorazione e validazione. Le domande ripetute e gli ordini delle opzioni non diventano campioni indipendenti: l’incertezza va valutata al livello delle famiglie. Voglio essere molto chiaro sullo stato di questo lavoro: materiali e codice sono preparati, ma nei risultati disponibili non c’è ancora una valutazione del pilot su checkpoint reali, e manca la validazione linguistica indipendente. Anche il nuovo compito ha limiti. Invertire i ruoli non elimina tutte le scorciatoie posizionali. E una risposta corretta a fine frase può derivare da una ricostruzione fatta quando compare la domanda, senza provare una revisione durante la lettura. Prima di cercare altre teste, voglio rendere più discriminante il comportamento. È questo il punto a cui è arrivato il progetto.</a:t>
            </a:r>
          </a:p>
          <a:p xmlns:a="http://schemas.openxmlformats.org/drawingml/2006/main">
            <a:r>
              <a:t/>
            </a:r>
          </a:p>
          <a:p xmlns:a="http://schemas.openxmlformats.org/drawingml/2006/main">
            <a:r>
              <a:t>PASSAGGIO: È questo il punto a cui è arrivato il progetto.</a:t>
            </a:r>
          </a:p>
          <a:p xmlns:a="http://schemas.openxmlformats.org/drawingml/2006/main">
            <a:r>
              <a:t/>
            </a:r>
          </a:p>
          <a:p xmlns:a="http://schemas.openxmlformats.org/drawingml/2006/main">
            <a:r>
              <a:t>FONTI: research/PROTOCOL.md; research/materials/pilot.json; research/behavioral.py</a:t>
            </a:r>
          </a:p>
          <a:p xmlns:a="http://schemas.openxmlformats.org/drawingml/2006/main">
            <a:r>
              <a:t>Repository: https://github.com/lucamattiazzi/garden_path_sentences</a:t>
            </a:r>
          </a:p>
          <a:p xmlns:a="http://schemas.openxmlformats.org/drawingml/2006/main">
            <a:r>
              <a:t>Il materiale segue l'audit e il protocollo locali aggiornati, non tutte le interpretazioni del post iniziale.</a:t>
            </a:r>
          </a:p>
          <a:p xmlns:a="http://schemas.openxmlformats.org/drawingml/2006/main">
            <a:r>
              <a:t>Stile: https://grokked.it/ (tema chiaro, consultato 1 ottobre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18:30–20:00</a:t>
            </a:r>
          </a:p>
          <a:p xmlns:a="http://schemas.openxmlformats.org/drawingml/2006/main">
            <a:r>
              <a:t/>
            </a:r>
          </a:p>
          <a:p xmlns:a="http://schemas.openxmlformats.org/drawingml/2006/main">
            <a:r>
              <a:t>CANOVACCIO: Previsione misurata. Influenza causale osservata. Rianalisi ancora da identificare.</a:t>
            </a:r>
          </a:p>
          <a:p xmlns:a="http://schemas.openxmlformats.org/drawingml/2006/main">
            <a:r>
              <a:t/>
            </a:r>
          </a:p>
          <a:p xmlns:a="http://schemas.openxmlformats.org/drawingml/2006/main">
            <a:r>
              <a:t>Riassumo quello che porto a casa. Le frasi ambigue e le versioni normali producono differenze nelle probabilità. Intervenire sui contributi interni o trasferire uno stato da un’altra esecuzione cambia quelle probabilità. Questi sono risultati sul comportamento predittivo e sulla sensibilità agli interventi. La domanda più ambiziosa, cioè quale meccanismo realizzi una revisione sintattica, resta aperta in questo progetto. Mi sembra un buon esempio di che cosa renda interessante la mechanistic interpretability: possiamo modificare il calcolo interno in modo molto preciso, ma questa precisione tecnica non sostituisce la precisione della domanda sperimentale. Se la misura è compatibile con spiegazioni diverse, anche un grafico convincente lascia quelle spiegazioni aperte. Il passo successivo è quindi validare un comportamento che distingua meglio le letture, verificarlo su famiglie di frasi tenute fuori dall’esplorazione e solo dopo cercare interventi selettivi su quel comportamento. [Pausa.] Sono partito da una frase di cinque parole per capire come un modello la legge. Ho trovato soprattutto un modo più rigoroso di formulare la domanda. Qui trovate il progetto e i log, e sul mio sito il racconto iniziale. Grazie.</a:t>
            </a:r>
          </a:p>
          <a:p xmlns:a="http://schemas.openxmlformats.org/drawingml/2006/main">
            <a:r>
              <a:t/>
            </a:r>
          </a:p>
          <a:p xmlns:a="http://schemas.openxmlformats.org/drawingml/2006/main">
            <a:r>
              <a:t>PASSAGGIO: Domande.</a:t>
            </a:r>
          </a:p>
          <a:p xmlns:a="http://schemas.openxmlformats.org/drawingml/2006/main">
            <a:r>
              <a:t/>
            </a:r>
          </a:p>
          <a:p xmlns:a="http://schemas.openxmlformats.org/drawingml/2006/main">
            <a:r>
              <a:t>FONTI: README.md; LW.md; research/PROTOCOL.md</a:t>
            </a:r>
          </a:p>
          <a:p xmlns:a="http://schemas.openxmlformats.org/drawingml/2006/main">
            <a:r>
              <a:t>Repository: https://github.com/lucamattiazzi/garden_path_sentences</a:t>
            </a:r>
          </a:p>
          <a:p xmlns:a="http://schemas.openxmlformats.org/drawingml/2006/main">
            <a:r>
              <a:t>Il materiale segue l'audit e il protocollo locali aggiornati, non tutte le interpretazioni del post iniziale.</a:t>
            </a:r>
          </a:p>
          <a:p xmlns:a="http://schemas.openxmlformats.org/drawingml/2006/main">
            <a:r>
              <a:t>Stile: https://grokked.it/ (tema chiaro, consultato 1 ottobre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+02:00, opzionale</a:t>
            </a:r>
          </a:p>
          <a:p xmlns:a="http://schemas.openxmlformats.org/drawingml/2006/main">
            <a:r>
              <a:t/>
            </a:r>
          </a:p>
          <a:p xmlns:a="http://schemas.openxmlformats.org/drawingml/2006/main">
            <a:r>
              <a:t>CANOVACCIO: Usare per chiarire che il dataset non contiene solo ambiguità nome-verbo.</a:t>
            </a:r>
          </a:p>
          <a:p xmlns:a="http://schemas.openxmlformats.org/drawingml/2006/main">
            <a:r>
              <a:t/>
            </a:r>
          </a:p>
          <a:p xmlns:a="http://schemas.openxmlformats.org/drawingml/2006/main">
            <a:r>
              <a:t>RR: The horse raced past the barn fell. La lettura corretta include una relativa passiva ridotta. NV: The old man the boat. NP/S: The man knew the answer was wrong. NP/Z: While the man hunted the deer ran into the woods. COORD: John kissed Mary and her sister laughed. Le sigle indicano costruzioni diverse, con fattori lessicali e punti critici diversi. Gli item storici non hanno tutti un punto critico già validato come primo disambiguatore: gli esempi servono a spiegare la struttura, non a certificare il dataset.</a:t>
            </a:r>
          </a:p>
          <a:p xmlns:a="http://schemas.openxmlformats.org/drawingml/2006/main">
            <a:r>
              <a:t/>
            </a:r>
          </a:p>
          <a:p xmlns:a="http://schemas.openxmlformats.org/drawingml/2006/main">
            <a:r>
              <a:t>PASSAGGIO: Torna alla slide 7 o passa alle domande.</a:t>
            </a:r>
          </a:p>
          <a:p xmlns:a="http://schemas.openxmlformats.org/drawingml/2006/main">
            <a:r>
              <a:t/>
            </a:r>
          </a:p>
          <a:p xmlns:a="http://schemas.openxmlformats.org/drawingml/2006/main">
            <a:r>
              <a:t>FONTI: model_finder/sentences.py</a:t>
            </a:r>
          </a:p>
          <a:p xmlns:a="http://schemas.openxmlformats.org/drawingml/2006/main">
            <a:r>
              <a:t>Repository: https://github.com/lucamattiazzi/garden_path_sentences</a:t>
            </a:r>
          </a:p>
          <a:p xmlns:a="http://schemas.openxmlformats.org/drawingml/2006/main">
            <a:r>
              <a:t>Il materiale segue l'audit e il protocollo locali aggiornati, non tutte le interpretazioni del post iniziale.</a:t>
            </a:r>
          </a:p>
          <a:p xmlns:a="http://schemas.openxmlformats.org/drawingml/2006/main">
            <a:r>
              <a:t>Stile: https://grokked.it/ (tema chiaro, consultato 1 ottobre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+02:00, opzionale</a:t>
            </a:r>
          </a:p>
          <a:p xmlns:a="http://schemas.openxmlformats.org/drawingml/2006/main">
            <a:r>
              <a:t/>
            </a:r>
          </a:p>
          <a:p xmlns:a="http://schemas.openxmlformats.org/drawingml/2006/main">
            <a:r>
              <a:t>CANOVACCIO: Gemma 27B, continuazione: media 1,477 nats; CI ampio; togliere #23 porta a 0,437.</a:t>
            </a:r>
          </a:p>
          <a:p xmlns:a="http://schemas.openxmlformats.org/drawingml/2006/main">
            <a:r>
              <a:t/>
            </a:r>
          </a:p>
          <a:p xmlns:a="http://schemas.openxmlformats.org/drawingml/2006/main">
            <a:r>
              <a:t>Nel sottoinsieme storico NV canonical di dieci coppie, Gemma 27B ha un costo medio di continuazione di 1,477 nats. L’intervallo bootstrap al 95% va da −0,156 a 3,811. Togliendo il solo item 23, la media scende a 0,437. Il risultato non implica che quell’item vada cancellato: mostra quanto dipenda da pochi esempi la stima. Queste cifre riguardano il sottoinsieme da dieci coppie dell’audit, non il patching sulle venti coppie. Per i confronti fra modelli bisogna inoltre appaiare gli stessi item.</a:t>
            </a:r>
          </a:p>
          <a:p xmlns:a="http://schemas.openxmlformats.org/drawingml/2006/main">
            <a:r>
              <a:t/>
            </a:r>
          </a:p>
          <a:p xmlns:a="http://schemas.openxmlformats.org/drawingml/2006/main">
            <a:r>
              <a:t>PASSAGGIO: Torna alla conclusione o passa alle domande.</a:t>
            </a:r>
          </a:p>
          <a:p xmlns:a="http://schemas.openxmlformats.org/drawingml/2006/main">
            <a:r>
              <a:t/>
            </a:r>
          </a:p>
          <a:p xmlns:a="http://schemas.openxmlformats.org/drawingml/2006/main">
            <a:r>
              <a:t>FONTI: research/results/legacy-audit.md, Continuation proxy and sensitivity</a:t>
            </a:r>
          </a:p>
          <a:p xmlns:a="http://schemas.openxmlformats.org/drawingml/2006/main">
            <a:r>
              <a:t>Repository: https://github.com/lucamattiazzi/garden_path_sentences</a:t>
            </a:r>
          </a:p>
          <a:p xmlns:a="http://schemas.openxmlformats.org/drawingml/2006/main">
            <a:r>
              <a:t>Il materiale segue l'audit e il protocollo locali aggiornati, non tutte le interpretazioni del post iniziale.</a:t>
            </a:r>
          </a:p>
          <a:p xmlns:a="http://schemas.openxmlformats.org/drawingml/2006/main">
            <a:r>
              <a:t>Stile: https://grokked.it/ (tema chiaro, consultato 1 ottobre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d2e551105d004db5"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d5302715dfd040af" /><Relationship Type="http://schemas.openxmlformats.org/officeDocument/2006/relationships/slideLayout" Target="/ppt/slideLayouts/slideLayout1.xml" Id="R4763ef2f7ebd499b"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4763ef2f7ebd499b"/>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a9ca24f671034e5b" /><Relationship Type="http://schemas.openxmlformats.org/officeDocument/2006/relationships/notesSlide" Target="/ppt/notesSlides/notesSlide1.xml" Id="Rfc74196beceb428f"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92c5192b38994752" /><Relationship Type="http://schemas.openxmlformats.org/officeDocument/2006/relationships/notesSlide" Target="/ppt/notesSlides/notesSlide2.xml" Id="R1c0ba911d6634258"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3026f10b083e4245" /><Relationship Type="http://schemas.openxmlformats.org/officeDocument/2006/relationships/notesSlide" Target="/ppt/notesSlides/notesSlide3.xml" Id="R38a5f316345c4a70"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de2171a328774df6" /><Relationship Type="http://schemas.openxmlformats.org/officeDocument/2006/relationships/notesSlide" Target="/ppt/notesSlides/notesSlide4.xml" Id="Rc49f46d51fab4cfd"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85342840ae534a89" /><Relationship Type="http://schemas.openxmlformats.org/officeDocument/2006/relationships/notesSlide" Target="/ppt/notesSlides/notesSlide5.xml" Id="R19a21403fdd64c53"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ce64a5ece0d946dd" /><Relationship Type="http://schemas.openxmlformats.org/officeDocument/2006/relationships/notesSlide" Target="/ppt/notesSlides/notesSlide6.xml" Id="Rc6e15e9bd22240c9"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f35be9ec5ee64290" /><Relationship Type="http://schemas.openxmlformats.org/officeDocument/2006/relationships/chart" Target="/ppt/slides/charts/chart1.xml" Id="R537c72ab767a4cc3" /><Relationship Type="http://schemas.openxmlformats.org/officeDocument/2006/relationships/notesSlide" Target="/ppt/notesSlides/notesSlide7.xml" Id="R7717f4b3863348b4"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fb4341bba30543e5" /><Relationship Type="http://schemas.openxmlformats.org/officeDocument/2006/relationships/notesSlide" Target="/ppt/notesSlides/notesSlide8.xml" Id="R6e45a1f33c19476f"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9d9ae4c5f45e485b" /><Relationship Type="http://schemas.openxmlformats.org/officeDocument/2006/relationships/notesSlide" Target="/ppt/notesSlides/notesSlide9.xml" Id="R10085c82a1b44b4b"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d87c9e32160045a9" /><Relationship Type="http://schemas.openxmlformats.org/officeDocument/2006/relationships/notesSlide" Target="/ppt/notesSlides/notesSlide10.xml" Id="Ref4501036bd54869"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62ac37d2c4ce47a8" /><Relationship Type="http://schemas.openxmlformats.org/officeDocument/2006/relationships/notesSlide" Target="/ppt/notesSlides/notesSlide11.xml" Id="R9455f246c4ff4d5f"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160ae223330f48bb" /><Relationship Type="http://schemas.openxmlformats.org/officeDocument/2006/relationships/notesSlide" Target="/ppt/notesSlides/notesSlide12.xml" Id="R3d4cc7f66e1e4148"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d5766f6a3cfd4bde" /><Relationship Type="http://schemas.openxmlformats.org/officeDocument/2006/relationships/notesSlide" Target="/ppt/notesSlides/notesSlide13.xml" Id="Rd417d16ad8774efd"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6aa47d2315d240a4" /><Relationship Type="http://schemas.openxmlformats.org/officeDocument/2006/relationships/notesSlide" Target="/ppt/notesSlides/notesSlide14.xml" Id="R169a2ca4c152444d"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60747daed1214f31" /><Relationship Type="http://schemas.openxmlformats.org/officeDocument/2006/relationships/notesSlide" Target="/ppt/notesSlides/notesSlide15.xml" Id="R99553c178795405e"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7ac1d78775044042" /><Relationship Type="http://schemas.openxmlformats.org/officeDocument/2006/relationships/notesSlide" Target="/ppt/notesSlides/notesSlide16.xml" Id="R06e63d70c43d45d8" /></Relationships>
</file>

<file path=ppt/slides/charts/chart1.xml><?xml version="1.0" encoding="utf-8"?>
<c:chartSpace xmlns:c="http://schemas.openxmlformats.org/drawingml/2006/chart">
  <c:lang val="en-US"/>
  <c:chart>
    <c:plotArea>
      <c:barChart>
        <c:barDir val="col"/>
        <c:grouping val="clustered"/>
        <c:varyColors val="0"/>
        <c:ser>
          <c:idx val="0"/>
          <c:order val="0"/>
          <c:tx>
            <c:v>ΔS medio (nats)</c:v>
          </c:tx>
          <c:spPr>
            <a:solidFill xmlns:a="http://schemas.openxmlformats.org/drawingml/2006/main">
              <a:srgbClr val="0000EE"/>
            </a:solidFill>
          </c:spPr>
          <c:cat>
            <c:strLit>
              <c:ptCount val="5"/>
              <c:pt idx="0">
                <c:v>RR</c:v>
              </c:pt>
              <c:pt idx="1">
                <c:v>NV</c:v>
              </c:pt>
              <c:pt idx="2">
                <c:v>NP/S</c:v>
              </c:pt>
              <c:pt idx="3">
                <c:v>NP/Z</c:v>
              </c:pt>
              <c:pt idx="4">
                <c:v>COORD</c:v>
              </c:pt>
            </c:strLit>
          </c:cat>
          <c:val>
            <c:numLit>
              <c:formatCode>0.00</c:formatCode>
              <c:ptCount val="5"/>
              <c:pt idx="0">
                <c:v>1.3940539757410686</c:v>
              </c:pt>
              <c:pt idx="1">
                <c:v>5.453080061078071</c:v>
              </c:pt>
              <c:pt idx="2">
                <c:v>1.823135793209076</c:v>
              </c:pt>
              <c:pt idx="3">
                <c:v>6.323204445838928</c:v>
              </c:pt>
              <c:pt idx="4">
                <c:v>5.381788158416748</c:v>
              </c:pt>
            </c:numLit>
          </c:val>
        </c:ser>
        <c:dLbls>
          <c:txPr>
            <a:bodyPr xmlns:a="http://schemas.openxmlformats.org/drawingml/2006/main" anchorCtr="1"/>
            <a:lstStyle xmlns:a="http://schemas.openxmlformats.org/drawingml/2006/main"/>
            <a:p xmlns:a="http://schemas.openxmlformats.org/drawingml/2006/main">
              <a:pPr>
                <a:defRPr sz="1800">
                  <a:solidFill>
                    <a:srgbClr val="222222"/>
                  </a:solidFill>
                  <a:latin typeface="Arial"/>
                  <a:ea typeface="Arial"/>
                  <a:cs typeface="Arial"/>
                </a:defRPr>
              </a:pPr>
            </a:p>
          </c:txPr>
          <c:dLblPos val="outEnd"/>
          <c:showLegendKey val="0"/>
          <c:showVal val="1"/>
          <c:showCatName val="0"/>
          <c:showSerName val="0"/>
          <c:showPercent val="0"/>
          <c:showBubbleSize val="0"/>
          <c:showLeaderLines val="0"/>
        </c:dLbls>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800">
                <a:solidFill>
                  <a:srgbClr val="222222"/>
                </a:solidFill>
                <a:latin typeface="Arial"/>
                <a:ea typeface="Arial"/>
                <a:cs typeface="Arial"/>
              </a:defRPr>
            </a:pPr>
          </a:p>
        </c:txPr>
        <c:crossAx val="48672768"/>
      </c:catAx>
      <c:valAx>
        <c:axId val="48672768"/>
        <c:scaling>
          <c:orientation val="minMax"/>
          <c:max val="8"/>
          <c:min val="0"/>
        </c:scaling>
        <c:delete val="0"/>
        <c:axPos val="l"/>
        <c:majorGridlines>
          <c:spPr>
            <a:ln xmlns:a="http://schemas.openxmlformats.org/drawingml/2006/main" w="9525">
              <a:solidFill>
                <a:srgbClr val="DDDDDD"/>
              </a:solidFill>
            </a:ln>
          </c:spPr>
        </c:majorGridlines>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222222"/>
                </a:solidFill>
                <a:latin typeface="Arial"/>
                <a:ea typeface="Arial"/>
                <a:cs typeface="Arial"/>
              </a:defRPr>
            </a:pPr>
          </a:p>
        </c:txPr>
        <c:crossAx val="48650112"/>
        <c:crossBetween val="between"/>
        <c:majorUnit val="2"/>
      </c:valAx>
      <c:spPr>
        <a:solidFill xmlns:a="http://schemas.openxmlformats.org/drawingml/2006/main">
          <a:srgbClr val="FFFFFF"/>
        </a:solidFill>
      </c:spPr>
    </c:plotArea>
    <c:plotVisOnly val="1"/>
  </c:chart>
  <c:spPr>
    <a:solidFill xmlns:a="http://schemas.openxmlformats.org/drawingml/2006/main">
      <a:srgbClr val="FFFFFF"/>
    </a:solidFill>
  </c:spPr>
</c:chartSpace>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20922076-2B7A-44F1-970B-BD48FEC21DCC}"/>
              </a:ext>
            </a:extLst>
          </p:cNvPr>
          <p:cNvSpPr>
            <a:spLocks xmlns:a="http://schemas.openxmlformats.org/drawingml/2006/main" noGrp="1"/>
          </p:cNvSpPr>
          <p:nvPr/>
        </p:nvSpPr>
        <p:spPr>
          <a:xfrm xmlns:a="http://schemas.openxmlformats.org/drawingml/2006/main">
            <a:off x="762000" y="1619250"/>
            <a:ext cx="10668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5700" b="1">
                <a:solidFill>
                  <a:srgbClr val="000000"/>
                </a:solidFill>
                <a:latin typeface="Arial"/>
                <a:ea typeface="Arial"/>
                <a:cs typeface="Arial"/>
              </a:defRPr>
            </a:pPr>
            <a:r>
              <a:rPr sz="5700" b="1">
                <a:solidFill>
                  <a:srgbClr val="000000"/>
                </a:solidFill>
                <a:latin typeface="Arial"/>
                <a:ea typeface="Arial"/>
                <a:cs typeface="Arial"/>
              </a:rPr>
              <a:t>Garden-path sentences</a:t>
            </a:r>
          </a:p>
        </p:txBody>
      </p:sp>
      <p:sp>
        <p:nvSpPr>
          <p:cNvPr id="2" name="">
            <a:extLst xmlns:a="http://schemas.openxmlformats.org/drawingml/2006/main">
              <a:ext uri="{FF2B5EF4-FFF2-40B4-BE49-F238E27FC236}">
                <a16:creationId xmlns:a16="http://schemas.microsoft.com/office/drawing/2014/main" id="{916360B8-BEBB-4DDE-BD6E-64A6FEBF4145}"/>
              </a:ext>
            </a:extLst>
          </p:cNvPr>
          <p:cNvSpPr>
            <a:spLocks xmlns:a="http://schemas.openxmlformats.org/drawingml/2006/main" noGrp="1"/>
          </p:cNvSpPr>
          <p:nvPr/>
        </p:nvSpPr>
        <p:spPr>
          <a:xfrm xmlns:a="http://schemas.openxmlformats.org/drawingml/2006/main">
            <a:off x="800100" y="2809875"/>
            <a:ext cx="104775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a:solidFill>
                  <a:srgbClr val="222222"/>
                </a:solidFill>
                <a:latin typeface="Arial"/>
                <a:ea typeface="Arial"/>
                <a:cs typeface="Arial"/>
              </a:defRPr>
            </a:pPr>
            <a:r>
              <a:rPr sz="3000">
                <a:solidFill>
                  <a:srgbClr val="222222"/>
                </a:solidFill>
                <a:latin typeface="Arial"/>
                <a:ea typeface="Arial"/>
                <a:cs typeface="Arial"/>
              </a:rPr>
              <a:t>Dentro un modello, davanti a una frase ambigua</a:t>
            </a:r>
          </a:p>
        </p:txBody>
      </p:sp>
      <p:sp>
        <p:nvSpPr>
          <p:cNvPr id="3" name="">
            <a:extLst xmlns:a="http://schemas.openxmlformats.org/drawingml/2006/main">
              <a:ext uri="{FF2B5EF4-FFF2-40B4-BE49-F238E27FC236}">
                <a16:creationId xmlns:a16="http://schemas.microsoft.com/office/drawing/2014/main" id="{3871A43B-A155-4A72-8859-9006AE8BD93C}"/>
              </a:ext>
            </a:extLst>
          </p:cNvPr>
          <p:cNvSpPr>
            <a:spLocks xmlns:a="http://schemas.openxmlformats.org/drawingml/2006/main" noGrp="1"/>
          </p:cNvSpPr>
          <p:nvPr/>
        </p:nvSpPr>
        <p:spPr>
          <a:xfrm xmlns:a="http://schemas.openxmlformats.org/drawingml/2006/main">
            <a:off x="800100" y="4848225"/>
            <a:ext cx="9525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a:solidFill>
                  <a:srgbClr val="222222"/>
                </a:solidFill>
                <a:latin typeface="Arial"/>
                <a:ea typeface="Arial"/>
                <a:cs typeface="Arial"/>
              </a:defRPr>
            </a:pPr>
            <a:r>
              <a:rPr sz="2250">
                <a:solidFill>
                  <a:srgbClr val="222222"/>
                </a:solidFill>
                <a:latin typeface="Arial"/>
                <a:ea typeface="Arial"/>
                <a:cs typeface="Arial"/>
              </a:rPr>
              <a:t>Luca Mattiazzi</a:t>
            </a:r>
          </a:p>
        </p:txBody>
      </p:sp>
      <p:sp>
        <p:nvSpPr>
          <p:cNvPr id="4" name="">
            <a:extLst xmlns:a="http://schemas.openxmlformats.org/drawingml/2006/main">
              <a:ext uri="{FF2B5EF4-FFF2-40B4-BE49-F238E27FC236}">
                <a16:creationId xmlns:a16="http://schemas.microsoft.com/office/drawing/2014/main" id="{ED768960-E24F-4420-A29B-873B9E584EE5}"/>
              </a:ext>
            </a:extLst>
          </p:cNvPr>
          <p:cNvSpPr>
            <a:spLocks xmlns:a="http://schemas.openxmlformats.org/drawingml/2006/main" noGrp="1"/>
          </p:cNvSpPr>
          <p:nvPr/>
        </p:nvSpPr>
        <p:spPr>
          <a:xfrm xmlns:a="http://schemas.openxmlformats.org/drawingml/2006/main">
            <a:off x="800100" y="5410200"/>
            <a:ext cx="9525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a:solidFill>
                  <a:srgbClr val="0000EE"/>
                </a:solidFill>
                <a:latin typeface="Arial"/>
                <a:ea typeface="Arial"/>
                <a:cs typeface="Arial"/>
              </a:defRPr>
            </a:pPr>
            <a:r>
              <a:rPr sz="2250">
                <a:solidFill>
                  <a:srgbClr val="0000EE"/>
                </a:solidFill>
                <a:latin typeface="Arial"/>
                <a:ea typeface="Arial"/>
                <a:cs typeface="Arial"/>
              </a:rPr>
              <a:t>grokked.it</a:t>
            </a:r>
          </a:p>
        </p:txBody>
      </p:sp>
    </p:spTree>
    <p:extLst>
      <p:ext uri="{BB962C8B-B14F-4D97-AF65-F5344CB8AC3E}">
        <p14:creationId xmlns:p14="http://schemas.microsoft.com/office/powerpoint/2010/main" val="1988358586"/>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 name="">
            <a:extLst xmlns:a="http://schemas.openxmlformats.org/drawingml/2006/main">
              <a:ext uri="{FF2B5EF4-FFF2-40B4-BE49-F238E27FC236}">
                <a16:creationId xmlns:a16="http://schemas.microsoft.com/office/drawing/2014/main" id="{978C97D3-9DDF-49F3-A0F2-B43E5F0395B9}"/>
              </a:ext>
            </a:extLst>
          </p:cNvPr>
          <p:cNvSpPr>
            <a:spLocks xmlns:a="http://schemas.openxmlformats.org/drawingml/2006/main" noGrp="1"/>
          </p:cNvSpPr>
          <p:nvPr/>
        </p:nvSpPr>
        <p:spPr>
          <a:xfrm xmlns:a="http://schemas.openxmlformats.org/drawingml/2006/main">
            <a:off x="762000" y="2619375"/>
            <a:ext cx="10668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950" b="1">
                <a:solidFill>
                  <a:srgbClr val="000000"/>
                </a:solidFill>
                <a:latin typeface="Arial"/>
                <a:ea typeface="Arial"/>
                <a:cs typeface="Arial"/>
              </a:defRPr>
            </a:pPr>
            <a:r>
              <a:rPr sz="4950" b="1">
                <a:solidFill>
                  <a:srgbClr val="000000"/>
                </a:solidFill>
                <a:latin typeface="Arial"/>
                <a:ea typeface="Arial"/>
                <a:cs typeface="Arial"/>
              </a:rPr>
              <a:t>The old man the boat.</a:t>
            </a:r>
          </a:p>
        </p:txBody>
      </p:sp>
      <p:sp>
        <p:nvSpPr>
          <p:cNvPr id="2" name="">
            <a:extLst xmlns:a="http://schemas.openxmlformats.org/drawingml/2006/main">
              <a:ext uri="{FF2B5EF4-FFF2-40B4-BE49-F238E27FC236}">
                <a16:creationId xmlns:a16="http://schemas.microsoft.com/office/drawing/2014/main" id="{8BCA00C6-DF78-4040-B6D3-0EF8D6A897C1}"/>
              </a:ext>
            </a:extLst>
          </p:cNvPr>
          <p:cNvSpPr>
            <a:spLocks xmlns:a="http://schemas.openxmlformats.org/drawingml/2006/main" noGrp="1"/>
          </p:cNvSpPr>
          <p:nvPr/>
        </p:nvSpPr>
        <p:spPr>
          <a:xfrm xmlns:a="http://schemas.openxmlformats.org/drawingml/2006/main">
            <a:off x="10972800" y="6210300"/>
            <a:ext cx="457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a:solidFill>
                  <a:srgbClr val="666666"/>
                </a:solidFill>
                <a:latin typeface="Arial"/>
                <a:ea typeface="Arial"/>
                <a:cs typeface="Arial"/>
              </a:defRPr>
            </a:pPr>
            <a:r>
              <a:rPr sz="1425">
                <a:solidFill>
                  <a:srgbClr val="666666"/>
                </a:solidFill>
                <a:latin typeface="Arial"/>
                <a:ea typeface="Arial"/>
                <a:cs typeface="Arial"/>
              </a:rPr>
              <a:t>02</a:t>
            </a:r>
          </a:p>
        </p:txBody>
      </p:sp>
    </p:spTree>
    <p:extLst>
      <p:ext uri="{BB962C8B-B14F-4D97-AF65-F5344CB8AC3E}">
        <p14:creationId xmlns:p14="http://schemas.microsoft.com/office/powerpoint/2010/main" val="310570772"/>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1E7269CD-D0AD-44BC-9CCB-66F8A7551574}"/>
              </a:ext>
            </a:extLst>
          </p:cNvPr>
          <p:cNvSpPr>
            <a:spLocks xmlns:a="http://schemas.openxmlformats.org/drawingml/2006/main" noGrp="1"/>
          </p:cNvSpPr>
          <p:nvPr/>
        </p:nvSpPr>
        <p:spPr>
          <a:xfrm xmlns:a="http://schemas.openxmlformats.org/drawingml/2006/main">
            <a:off x="762000" y="647700"/>
            <a:ext cx="10668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900" b="1">
                <a:solidFill>
                  <a:srgbClr val="000000"/>
                </a:solidFill>
                <a:latin typeface="Arial"/>
                <a:ea typeface="Arial"/>
                <a:cs typeface="Arial"/>
              </a:defRPr>
            </a:pPr>
            <a:r>
              <a:rPr sz="3900" b="1">
                <a:solidFill>
                  <a:srgbClr val="000000"/>
                </a:solidFill>
                <a:latin typeface="Arial"/>
                <a:ea typeface="Arial"/>
                <a:cs typeface="Arial"/>
              </a:rPr>
              <a:t>Il contesto resta accessibile</a:t>
            </a:r>
          </a:p>
        </p:txBody>
      </p:sp>
      <p:sp>
        <p:nvSpPr>
          <p:cNvPr id="2" name="">
            <a:extLst xmlns:a="http://schemas.openxmlformats.org/drawingml/2006/main">
              <a:ext uri="{FF2B5EF4-FFF2-40B4-BE49-F238E27FC236}">
                <a16:creationId xmlns:a16="http://schemas.microsoft.com/office/drawing/2014/main" id="{AFF13C99-D30C-4FA4-B930-BE4C94D611C2}"/>
              </a:ext>
            </a:extLst>
          </p:cNvPr>
          <p:cNvSpPr>
            <a:spLocks xmlns:a="http://schemas.openxmlformats.org/drawingml/2006/main" noGrp="1"/>
          </p:cNvSpPr>
          <p:nvPr/>
        </p:nvSpPr>
        <p:spPr>
          <a:xfrm xmlns:a="http://schemas.openxmlformats.org/drawingml/2006/main">
            <a:off x="10972800" y="6210300"/>
            <a:ext cx="457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a:solidFill>
                  <a:srgbClr val="666666"/>
                </a:solidFill>
                <a:latin typeface="Arial"/>
                <a:ea typeface="Arial"/>
                <a:cs typeface="Arial"/>
              </a:defRPr>
            </a:pPr>
            <a:r>
              <a:rPr sz="1425">
                <a:solidFill>
                  <a:srgbClr val="666666"/>
                </a:solidFill>
                <a:latin typeface="Arial"/>
                <a:ea typeface="Arial"/>
                <a:cs typeface="Arial"/>
              </a:rPr>
              <a:t>03</a:t>
            </a:r>
          </a:p>
        </p:txBody>
      </p:sp>
      <p:sp>
        <p:nvSpPr>
          <p:cNvPr id="3" name="">
            <a:extLst xmlns:a="http://schemas.openxmlformats.org/drawingml/2006/main">
              <a:ext uri="{FF2B5EF4-FFF2-40B4-BE49-F238E27FC236}">
                <a16:creationId xmlns:a16="http://schemas.microsoft.com/office/drawing/2014/main" id="{C07FA997-B8A8-40BA-A271-6243A34CC26A}"/>
              </a:ext>
            </a:extLst>
          </p:cNvPr>
          <p:cNvSpPr>
            <a:spLocks xmlns:a="http://schemas.openxmlformats.org/drawingml/2006/main" noGrp="1"/>
          </p:cNvSpPr>
          <p:nvPr/>
        </p:nvSpPr>
        <p:spPr>
          <a:xfrm xmlns:a="http://schemas.openxmlformats.org/drawingml/2006/main">
            <a:off x="762000" y="2228850"/>
            <a:ext cx="10668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a:solidFill>
                  <a:srgbClr val="0000EE"/>
                </a:solidFill>
                <a:latin typeface="Arial"/>
                <a:ea typeface="Arial"/>
                <a:cs typeface="Arial"/>
              </a:defRPr>
            </a:pPr>
            <a:r>
              <a:rPr sz="3225">
                <a:solidFill>
                  <a:srgbClr val="0000EE"/>
                </a:solidFill>
                <a:latin typeface="Arial"/>
                <a:ea typeface="Arial"/>
                <a:cs typeface="Arial"/>
              </a:rPr>
              <a:t>Attention legge le posizioni precedenti.</a:t>
            </a:r>
          </a:p>
        </p:txBody>
      </p:sp>
      <p:sp>
        <p:nvSpPr>
          <p:cNvPr id="4" name="">
            <a:extLst xmlns:a="http://schemas.openxmlformats.org/drawingml/2006/main">
              <a:ext uri="{FF2B5EF4-FFF2-40B4-BE49-F238E27FC236}">
                <a16:creationId xmlns:a16="http://schemas.microsoft.com/office/drawing/2014/main" id="{2CAF27ED-3C9D-4B68-8704-C8933BA0E785}"/>
              </a:ext>
            </a:extLst>
          </p:cNvPr>
          <p:cNvSpPr>
            <a:spLocks xmlns:a="http://schemas.openxmlformats.org/drawingml/2006/main" noGrp="1"/>
          </p:cNvSpPr>
          <p:nvPr/>
        </p:nvSpPr>
        <p:spPr>
          <a:xfrm xmlns:a="http://schemas.openxmlformats.org/drawingml/2006/main">
            <a:off x="762000" y="3800475"/>
            <a:ext cx="10668000" cy="1447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a:solidFill>
                  <a:srgbClr val="222222"/>
                </a:solidFill>
                <a:latin typeface="Arial"/>
                <a:ea typeface="Arial"/>
                <a:cs typeface="Arial"/>
              </a:defRPr>
            </a:pPr>
            <a:r>
              <a:rPr sz="3150">
                <a:solidFill>
                  <a:srgbClr val="222222"/>
                </a:solidFill>
                <a:latin typeface="Arial"/>
                <a:ea typeface="Arial"/>
                <a:cs typeface="Arial"/>
              </a:rPr>
              <a:t>I token futuri non riscrivono</a:t>
            </a:r>
          </a:p>
          <a:p xmlns:a="http://schemas.openxmlformats.org/drawingml/2006/main">
            <a:pPr>
              <a:defRPr sz="3150">
                <a:solidFill>
                  <a:srgbClr val="222222"/>
                </a:solidFill>
                <a:latin typeface="Arial"/>
                <a:ea typeface="Arial"/>
                <a:cs typeface="Arial"/>
              </a:defRPr>
            </a:pPr>
            <a:r>
              <a:rPr sz="3150">
                <a:solidFill>
                  <a:srgbClr val="222222"/>
                </a:solidFill>
                <a:latin typeface="Arial"/>
                <a:ea typeface="Arial"/>
                <a:cs typeface="Arial"/>
              </a:rPr>
              <a:t>gli stati delle posizioni precedenti.</a:t>
            </a:r>
          </a:p>
        </p:txBody>
      </p:sp>
    </p:spTree>
    <p:extLst>
      <p:ext uri="{BB962C8B-B14F-4D97-AF65-F5344CB8AC3E}">
        <p14:creationId xmlns:p14="http://schemas.microsoft.com/office/powerpoint/2010/main" val="959605177"/>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CF591EA2-6C07-4B55-A526-705C3D5395AD}"/>
              </a:ext>
            </a:extLst>
          </p:cNvPr>
          <p:cNvSpPr>
            <a:spLocks xmlns:a="http://schemas.openxmlformats.org/drawingml/2006/main" noGrp="1"/>
          </p:cNvSpPr>
          <p:nvPr/>
        </p:nvSpPr>
        <p:spPr>
          <a:xfrm xmlns:a="http://schemas.openxmlformats.org/drawingml/2006/main">
            <a:off x="762000" y="647700"/>
            <a:ext cx="10668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900" b="1">
                <a:solidFill>
                  <a:srgbClr val="000000"/>
                </a:solidFill>
                <a:latin typeface="Arial"/>
                <a:ea typeface="Arial"/>
                <a:cs typeface="Arial"/>
              </a:defRPr>
            </a:pPr>
            <a:r>
              <a:rPr sz="3900" b="1">
                <a:solidFill>
                  <a:srgbClr val="000000"/>
                </a:solidFill>
                <a:latin typeface="Arial"/>
                <a:ea typeface="Arial"/>
                <a:cs typeface="Arial"/>
              </a:rPr>
              <a:t>Surprisal</a:t>
            </a:r>
          </a:p>
        </p:txBody>
      </p:sp>
      <p:sp>
        <p:nvSpPr>
          <p:cNvPr id="2" name="">
            <a:extLst xmlns:a="http://schemas.openxmlformats.org/drawingml/2006/main">
              <a:ext uri="{FF2B5EF4-FFF2-40B4-BE49-F238E27FC236}">
                <a16:creationId xmlns:a16="http://schemas.microsoft.com/office/drawing/2014/main" id="{2387F1BD-C141-4A66-8BDF-A87D695B5BBE}"/>
              </a:ext>
            </a:extLst>
          </p:cNvPr>
          <p:cNvSpPr>
            <a:spLocks xmlns:a="http://schemas.openxmlformats.org/drawingml/2006/main" noGrp="1"/>
          </p:cNvSpPr>
          <p:nvPr/>
        </p:nvSpPr>
        <p:spPr>
          <a:xfrm xmlns:a="http://schemas.openxmlformats.org/drawingml/2006/main">
            <a:off x="10972800" y="6210300"/>
            <a:ext cx="457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a:solidFill>
                  <a:srgbClr val="666666"/>
                </a:solidFill>
                <a:latin typeface="Arial"/>
                <a:ea typeface="Arial"/>
                <a:cs typeface="Arial"/>
              </a:defRPr>
            </a:pPr>
            <a:r>
              <a:rPr sz="1425">
                <a:solidFill>
                  <a:srgbClr val="666666"/>
                </a:solidFill>
                <a:latin typeface="Arial"/>
                <a:ea typeface="Arial"/>
                <a:cs typeface="Arial"/>
              </a:rPr>
              <a:t>04</a:t>
            </a:r>
          </a:p>
        </p:txBody>
      </p:sp>
      <p:sp>
        <p:nvSpPr>
          <p:cNvPr id="3" name="">
            <a:extLst xmlns:a="http://schemas.openxmlformats.org/drawingml/2006/main">
              <a:ext uri="{FF2B5EF4-FFF2-40B4-BE49-F238E27FC236}">
                <a16:creationId xmlns:a16="http://schemas.microsoft.com/office/drawing/2014/main" id="{FFAF521D-B2E0-4680-8240-8DF5783CE352}"/>
              </a:ext>
            </a:extLst>
          </p:cNvPr>
          <p:cNvSpPr>
            <a:spLocks xmlns:a="http://schemas.openxmlformats.org/drawingml/2006/main" noGrp="1"/>
          </p:cNvSpPr>
          <p:nvPr/>
        </p:nvSpPr>
        <p:spPr>
          <a:xfrm xmlns:a="http://schemas.openxmlformats.org/drawingml/2006/main">
            <a:off x="762000" y="2276475"/>
            <a:ext cx="106680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525">
                <a:solidFill>
                  <a:srgbClr val="0000EE"/>
                </a:solidFill>
                <a:latin typeface="Arial"/>
                <a:ea typeface="Arial"/>
                <a:cs typeface="Arial"/>
              </a:defRPr>
            </a:pPr>
            <a:r>
              <a:rPr sz="3525">
                <a:solidFill>
                  <a:srgbClr val="0000EE"/>
                </a:solidFill>
                <a:latin typeface="Arial"/>
                <a:ea typeface="Arial"/>
                <a:cs typeface="Arial"/>
              </a:rPr>
              <a:t>S(parola) = −ln P(parola | prefisso)</a:t>
            </a:r>
          </a:p>
        </p:txBody>
      </p:sp>
      <p:sp>
        <p:nvSpPr>
          <p:cNvPr id="4" name="">
            <a:extLst xmlns:a="http://schemas.openxmlformats.org/drawingml/2006/main">
              <a:ext uri="{FF2B5EF4-FFF2-40B4-BE49-F238E27FC236}">
                <a16:creationId xmlns:a16="http://schemas.microsoft.com/office/drawing/2014/main" id="{6B395846-7F78-40D0-B332-13B181054440}"/>
              </a:ext>
            </a:extLst>
          </p:cNvPr>
          <p:cNvSpPr>
            <a:spLocks xmlns:a="http://schemas.openxmlformats.org/drawingml/2006/main" noGrp="1"/>
          </p:cNvSpPr>
          <p:nvPr/>
        </p:nvSpPr>
        <p:spPr>
          <a:xfrm xmlns:a="http://schemas.openxmlformats.org/drawingml/2006/main">
            <a:off x="762000" y="3752850"/>
            <a:ext cx="10668000" cy="1314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925">
                <a:solidFill>
                  <a:srgbClr val="222222"/>
                </a:solidFill>
                <a:latin typeface="Courier New"/>
                <a:ea typeface="Courier New"/>
                <a:cs typeface="Courier New"/>
              </a:defRPr>
            </a:pPr>
            <a:r>
              <a:rPr sz="2925">
                <a:solidFill>
                  <a:srgbClr val="222222"/>
                </a:solidFill>
                <a:latin typeface="Courier New"/>
                <a:ea typeface="Courier New"/>
                <a:cs typeface="Courier New"/>
              </a:rPr>
              <a:t>0,10     2,30 nats</a:t>
            </a:r>
          </a:p>
          <a:p xmlns:a="http://schemas.openxmlformats.org/drawingml/2006/main">
            <a:pPr>
              <a:defRPr sz="2925">
                <a:solidFill>
                  <a:srgbClr val="222222"/>
                </a:solidFill>
                <a:latin typeface="Courier New"/>
                <a:ea typeface="Courier New"/>
                <a:cs typeface="Courier New"/>
              </a:defRPr>
            </a:pPr>
            <a:r>
              <a:rPr sz="2925">
                <a:solidFill>
                  <a:srgbClr val="222222"/>
                </a:solidFill>
                <a:latin typeface="Courier New"/>
                <a:ea typeface="Courier New"/>
                <a:cs typeface="Courier New"/>
              </a:rPr>
              <a:t>0,01     4,61 nats</a:t>
            </a:r>
          </a:p>
        </p:txBody>
      </p:sp>
      <p:sp>
        <p:nvSpPr>
          <p:cNvPr id="5" name="">
            <a:extLst xmlns:a="http://schemas.openxmlformats.org/drawingml/2006/main">
              <a:ext uri="{FF2B5EF4-FFF2-40B4-BE49-F238E27FC236}">
                <a16:creationId xmlns:a16="http://schemas.microsoft.com/office/drawing/2014/main" id="{53E96E41-A010-4423-B076-A62CE911749C}"/>
              </a:ext>
            </a:extLst>
          </p:cNvPr>
          <p:cNvSpPr>
            <a:spLocks xmlns:a="http://schemas.openxmlformats.org/drawingml/2006/main" noGrp="1"/>
          </p:cNvSpPr>
          <p:nvPr/>
        </p:nvSpPr>
        <p:spPr>
          <a:xfrm xmlns:a="http://schemas.openxmlformats.org/drawingml/2006/main">
            <a:off x="762000" y="5514975"/>
            <a:ext cx="10668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a:solidFill>
                  <a:srgbClr val="222222"/>
                </a:solidFill>
                <a:latin typeface="Arial"/>
                <a:ea typeface="Arial"/>
                <a:cs typeface="Arial"/>
              </a:defRPr>
            </a:pPr>
            <a:r>
              <a:rPr sz="1875">
                <a:solidFill>
                  <a:srgbClr val="222222"/>
                </a:solidFill>
                <a:latin typeface="Arial"/>
                <a:ea typeface="Arial"/>
                <a:cs typeface="Arial"/>
              </a:rPr>
              <a:t>Esempio numerico illustrativo</a:t>
            </a:r>
          </a:p>
        </p:txBody>
      </p:sp>
    </p:spTree>
    <p:extLst>
      <p:ext uri="{BB962C8B-B14F-4D97-AF65-F5344CB8AC3E}">
        <p14:creationId xmlns:p14="http://schemas.microsoft.com/office/powerpoint/2010/main" val="1871215495"/>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C64E720E-36BE-49D1-8E69-A8D488A21979}"/>
              </a:ext>
            </a:extLst>
          </p:cNvPr>
          <p:cNvSpPr>
            <a:spLocks xmlns:a="http://schemas.openxmlformats.org/drawingml/2006/main" noGrp="1"/>
          </p:cNvSpPr>
          <p:nvPr/>
        </p:nvSpPr>
        <p:spPr>
          <a:xfrm xmlns:a="http://schemas.openxmlformats.org/drawingml/2006/main">
            <a:off x="762000" y="647700"/>
            <a:ext cx="10668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900" b="1">
                <a:solidFill>
                  <a:srgbClr val="000000"/>
                </a:solidFill>
                <a:latin typeface="Arial"/>
                <a:ea typeface="Arial"/>
                <a:cs typeface="Arial"/>
              </a:defRPr>
            </a:pPr>
            <a:r>
              <a:rPr sz="3900" b="1">
                <a:solidFill>
                  <a:srgbClr val="000000"/>
                </a:solidFill>
                <a:latin typeface="Arial"/>
                <a:ea typeface="Arial"/>
                <a:cs typeface="Arial"/>
              </a:rPr>
              <a:t>Un confronto controllato</a:t>
            </a:r>
          </a:p>
        </p:txBody>
      </p:sp>
      <p:sp>
        <p:nvSpPr>
          <p:cNvPr id="2" name="">
            <a:extLst xmlns:a="http://schemas.openxmlformats.org/drawingml/2006/main">
              <a:ext uri="{FF2B5EF4-FFF2-40B4-BE49-F238E27FC236}">
                <a16:creationId xmlns:a16="http://schemas.microsoft.com/office/drawing/2014/main" id="{3D8F3FD6-9D86-4D7E-B3C2-E283AC7D9FEF}"/>
              </a:ext>
            </a:extLst>
          </p:cNvPr>
          <p:cNvSpPr>
            <a:spLocks xmlns:a="http://schemas.openxmlformats.org/drawingml/2006/main" noGrp="1"/>
          </p:cNvSpPr>
          <p:nvPr/>
        </p:nvSpPr>
        <p:spPr>
          <a:xfrm xmlns:a="http://schemas.openxmlformats.org/drawingml/2006/main">
            <a:off x="10972800" y="6210300"/>
            <a:ext cx="457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a:solidFill>
                  <a:srgbClr val="666666"/>
                </a:solidFill>
                <a:latin typeface="Arial"/>
                <a:ea typeface="Arial"/>
                <a:cs typeface="Arial"/>
              </a:defRPr>
            </a:pPr>
            <a:r>
              <a:rPr sz="1425">
                <a:solidFill>
                  <a:srgbClr val="666666"/>
                </a:solidFill>
                <a:latin typeface="Arial"/>
                <a:ea typeface="Arial"/>
                <a:cs typeface="Arial"/>
              </a:rPr>
              <a:t>05</a:t>
            </a:r>
          </a:p>
        </p:txBody>
      </p:sp>
      <p:sp>
        <p:nvSpPr>
          <p:cNvPr id="3" name="">
            <a:extLst xmlns:a="http://schemas.openxmlformats.org/drawingml/2006/main">
              <a:ext uri="{FF2B5EF4-FFF2-40B4-BE49-F238E27FC236}">
                <a16:creationId xmlns:a16="http://schemas.microsoft.com/office/drawing/2014/main" id="{EDA480AE-8E80-474E-B5EA-06BB07B66F8E}"/>
              </a:ext>
            </a:extLst>
          </p:cNvPr>
          <p:cNvSpPr>
            <a:spLocks xmlns:a="http://schemas.openxmlformats.org/drawingml/2006/main" noGrp="1"/>
          </p:cNvSpPr>
          <p:nvPr/>
        </p:nvSpPr>
        <p:spPr>
          <a:xfrm xmlns:a="http://schemas.openxmlformats.org/drawingml/2006/main">
            <a:off x="762000" y="2114550"/>
            <a:ext cx="106680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a:solidFill>
                  <a:srgbClr val="222222"/>
                </a:solidFill>
                <a:latin typeface="Arial"/>
                <a:ea typeface="Arial"/>
                <a:cs typeface="Arial"/>
              </a:defRPr>
            </a:pPr>
            <a:r>
              <a:rPr sz="3300">
                <a:solidFill>
                  <a:srgbClr val="222222"/>
                </a:solidFill>
                <a:latin typeface="Arial"/>
                <a:ea typeface="Arial"/>
                <a:cs typeface="Arial"/>
              </a:rPr>
              <a:t>The old man the boat.</a:t>
            </a:r>
          </a:p>
          <a:p xmlns:a="http://schemas.openxmlformats.org/drawingml/2006/main">
            <a:pPr>
              <a:defRPr sz="3300">
                <a:solidFill>
                  <a:srgbClr val="222222"/>
                </a:solidFill>
                <a:latin typeface="Arial"/>
                <a:ea typeface="Arial"/>
                <a:cs typeface="Arial"/>
              </a:defRPr>
            </a:pPr>
            <a:r>
              <a:rPr sz="3300">
                <a:solidFill>
                  <a:srgbClr val="222222"/>
                </a:solidFill>
                <a:latin typeface="Arial"/>
                <a:ea typeface="Arial"/>
                <a:cs typeface="Arial"/>
              </a:rPr>
              <a:t>The old people man the boat.</a:t>
            </a:r>
          </a:p>
        </p:txBody>
      </p:sp>
      <p:sp>
        <p:nvSpPr>
          <p:cNvPr id="4" name="">
            <a:extLst xmlns:a="http://schemas.openxmlformats.org/drawingml/2006/main">
              <a:ext uri="{FF2B5EF4-FFF2-40B4-BE49-F238E27FC236}">
                <a16:creationId xmlns:a16="http://schemas.microsoft.com/office/drawing/2014/main" id="{BBBBA601-6B88-47AC-A943-9A446977FCDF}"/>
              </a:ext>
            </a:extLst>
          </p:cNvPr>
          <p:cNvSpPr>
            <a:spLocks xmlns:a="http://schemas.openxmlformats.org/drawingml/2006/main" noGrp="1"/>
          </p:cNvSpPr>
          <p:nvPr/>
        </p:nvSpPr>
        <p:spPr>
          <a:xfrm xmlns:a="http://schemas.openxmlformats.org/drawingml/2006/main">
            <a:off x="762000" y="4010025"/>
            <a:ext cx="10668000" cy="1295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850">
                <a:solidFill>
                  <a:srgbClr val="0000EE"/>
                </a:solidFill>
                <a:latin typeface="Arial"/>
                <a:ea typeface="Arial"/>
                <a:cs typeface="Arial"/>
              </a:defRPr>
            </a:pPr>
            <a:r>
              <a:rPr sz="2850">
                <a:solidFill>
                  <a:srgbClr val="0000EE"/>
                </a:solidFill>
                <a:latin typeface="Arial"/>
                <a:ea typeface="Arial"/>
                <a:cs typeface="Arial"/>
              </a:rPr>
              <a:t>the     parola critica</a:t>
            </a:r>
          </a:p>
          <a:p xmlns:a="http://schemas.openxmlformats.org/drawingml/2006/main">
            <a:pPr>
              <a:defRPr sz="2850">
                <a:solidFill>
                  <a:srgbClr val="0000EE"/>
                </a:solidFill>
                <a:latin typeface="Arial"/>
                <a:ea typeface="Arial"/>
                <a:cs typeface="Arial"/>
              </a:defRPr>
            </a:pPr>
            <a:r>
              <a:rPr sz="2850">
                <a:solidFill>
                  <a:srgbClr val="0000EE"/>
                </a:solidFill>
                <a:latin typeface="Arial"/>
                <a:ea typeface="Arial"/>
                <a:cs typeface="Arial"/>
              </a:rPr>
              <a:t>boat   continuazione</a:t>
            </a:r>
          </a:p>
        </p:txBody>
      </p:sp>
      <p:sp>
        <p:nvSpPr>
          <p:cNvPr id="5" name="">
            <a:extLst xmlns:a="http://schemas.openxmlformats.org/drawingml/2006/main">
              <a:ext uri="{FF2B5EF4-FFF2-40B4-BE49-F238E27FC236}">
                <a16:creationId xmlns:a16="http://schemas.microsoft.com/office/drawing/2014/main" id="{068BD56D-6112-47F4-A52B-CF2A79711CB1}"/>
              </a:ext>
            </a:extLst>
          </p:cNvPr>
          <p:cNvSpPr>
            <a:spLocks xmlns:a="http://schemas.openxmlformats.org/drawingml/2006/main" noGrp="1"/>
          </p:cNvSpPr>
          <p:nvPr/>
        </p:nvSpPr>
        <p:spPr>
          <a:xfrm xmlns:a="http://schemas.openxmlformats.org/drawingml/2006/main">
            <a:off x="762000" y="5600700"/>
            <a:ext cx="10668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a:solidFill>
                  <a:srgbClr val="222222"/>
                </a:solidFill>
                <a:latin typeface="Arial"/>
                <a:ea typeface="Arial"/>
                <a:cs typeface="Arial"/>
              </a:defRPr>
            </a:pPr>
            <a:r>
              <a:rPr sz="2100">
                <a:solidFill>
                  <a:srgbClr val="222222"/>
                </a:solidFill>
                <a:latin typeface="Arial"/>
                <a:ea typeface="Arial"/>
                <a:cs typeface="Arial"/>
              </a:rPr>
              <a:t>ΔS = S(GPS) − S(normale)</a:t>
            </a:r>
          </a:p>
        </p:txBody>
      </p:sp>
    </p:spTree>
    <p:extLst>
      <p:ext uri="{BB962C8B-B14F-4D97-AF65-F5344CB8AC3E}">
        <p14:creationId xmlns:p14="http://schemas.microsoft.com/office/powerpoint/2010/main" val="966600413"/>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72378632-DF0B-40D9-BAD6-11CCCC24D226}"/>
              </a:ext>
            </a:extLst>
          </p:cNvPr>
          <p:cNvSpPr>
            <a:spLocks xmlns:a="http://schemas.openxmlformats.org/drawingml/2006/main" noGrp="1"/>
          </p:cNvSpPr>
          <p:nvPr/>
        </p:nvSpPr>
        <p:spPr>
          <a:xfrm xmlns:a="http://schemas.openxmlformats.org/drawingml/2006/main">
            <a:off x="762000" y="647700"/>
            <a:ext cx="10668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900" b="1">
                <a:solidFill>
                  <a:srgbClr val="000000"/>
                </a:solidFill>
                <a:latin typeface="Arial"/>
                <a:ea typeface="Arial"/>
                <a:cs typeface="Arial"/>
              </a:defRPr>
            </a:pPr>
            <a:r>
              <a:rPr sz="3900" b="1">
                <a:solidFill>
                  <a:srgbClr val="000000"/>
                </a:solidFill>
                <a:latin typeface="Arial"/>
                <a:ea typeface="Arial"/>
                <a:cs typeface="Arial"/>
              </a:rPr>
              <a:t>L’esperimento</a:t>
            </a:r>
          </a:p>
        </p:txBody>
      </p:sp>
      <p:sp>
        <p:nvSpPr>
          <p:cNvPr id="2" name="">
            <a:extLst xmlns:a="http://schemas.openxmlformats.org/drawingml/2006/main">
              <a:ext uri="{FF2B5EF4-FFF2-40B4-BE49-F238E27FC236}">
                <a16:creationId xmlns:a16="http://schemas.microsoft.com/office/drawing/2014/main" id="{FB6E31CE-E55D-4DD0-B06E-0E9968DEF896}"/>
              </a:ext>
            </a:extLst>
          </p:cNvPr>
          <p:cNvSpPr>
            <a:spLocks xmlns:a="http://schemas.openxmlformats.org/drawingml/2006/main" noGrp="1"/>
          </p:cNvSpPr>
          <p:nvPr/>
        </p:nvSpPr>
        <p:spPr>
          <a:xfrm xmlns:a="http://schemas.openxmlformats.org/drawingml/2006/main">
            <a:off x="10972800" y="6210300"/>
            <a:ext cx="457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a:solidFill>
                  <a:srgbClr val="666666"/>
                </a:solidFill>
                <a:latin typeface="Arial"/>
                <a:ea typeface="Arial"/>
                <a:cs typeface="Arial"/>
              </a:defRPr>
            </a:pPr>
            <a:r>
              <a:rPr sz="1425">
                <a:solidFill>
                  <a:srgbClr val="666666"/>
                </a:solidFill>
                <a:latin typeface="Arial"/>
                <a:ea typeface="Arial"/>
                <a:cs typeface="Arial"/>
              </a:rPr>
              <a:t>06</a:t>
            </a:r>
          </a:p>
        </p:txBody>
      </p:sp>
      <p:sp>
        <p:nvSpPr>
          <p:cNvPr id="3" name="">
            <a:extLst xmlns:a="http://schemas.openxmlformats.org/drawingml/2006/main">
              <a:ext uri="{FF2B5EF4-FFF2-40B4-BE49-F238E27FC236}">
                <a16:creationId xmlns:a16="http://schemas.microsoft.com/office/drawing/2014/main" id="{0BF35036-25D0-4EC2-AD1C-6F7DA5578534}"/>
              </a:ext>
            </a:extLst>
          </p:cNvPr>
          <p:cNvSpPr>
            <a:spLocks xmlns:a="http://schemas.openxmlformats.org/drawingml/2006/main" noGrp="1"/>
          </p:cNvSpPr>
          <p:nvPr/>
        </p:nvSpPr>
        <p:spPr>
          <a:xfrm xmlns:a="http://schemas.openxmlformats.org/drawingml/2006/main">
            <a:off x="762000" y="2047875"/>
            <a:ext cx="106680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75">
                <a:solidFill>
                  <a:srgbClr val="0000EE"/>
                </a:solidFill>
                <a:latin typeface="Arial"/>
                <a:ea typeface="Arial"/>
                <a:cs typeface="Arial"/>
              </a:defRPr>
            </a:pPr>
            <a:r>
              <a:rPr sz="3675">
                <a:solidFill>
                  <a:srgbClr val="0000EE"/>
                </a:solidFill>
                <a:latin typeface="Arial"/>
                <a:ea typeface="Arial"/>
                <a:cs typeface="Arial"/>
              </a:rPr>
              <a:t>50 coppie / 5 costruzioni</a:t>
            </a:r>
          </a:p>
        </p:txBody>
      </p:sp>
      <p:sp>
        <p:nvSpPr>
          <p:cNvPr id="4" name="">
            <a:extLst xmlns:a="http://schemas.openxmlformats.org/drawingml/2006/main">
              <a:ext uri="{FF2B5EF4-FFF2-40B4-BE49-F238E27FC236}">
                <a16:creationId xmlns:a16="http://schemas.microsoft.com/office/drawing/2014/main" id="{3C5CEB6F-0C1B-436E-B5EF-B4CADB58A7B3}"/>
              </a:ext>
            </a:extLst>
          </p:cNvPr>
          <p:cNvSpPr>
            <a:spLocks xmlns:a="http://schemas.openxmlformats.org/drawingml/2006/main" noGrp="1"/>
          </p:cNvSpPr>
          <p:nvPr/>
        </p:nvSpPr>
        <p:spPr>
          <a:xfrm xmlns:a="http://schemas.openxmlformats.org/drawingml/2006/main">
            <a:off x="762000" y="3038475"/>
            <a:ext cx="10668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a:solidFill>
                  <a:srgbClr val="222222"/>
                </a:solidFill>
                <a:latin typeface="Arial"/>
                <a:ea typeface="Arial"/>
                <a:cs typeface="Arial"/>
              </a:defRPr>
            </a:pPr>
            <a:r>
              <a:rPr sz="2700">
                <a:solidFill>
                  <a:srgbClr val="222222"/>
                </a:solidFill>
                <a:latin typeface="Arial"/>
                <a:ea typeface="Arial"/>
                <a:cs typeface="Arial"/>
              </a:rPr>
              <a:t>20 coppie nome-verbo per il patching</a:t>
            </a:r>
          </a:p>
        </p:txBody>
      </p:sp>
      <p:sp>
        <p:nvSpPr>
          <p:cNvPr id="5" name="">
            <a:extLst xmlns:a="http://schemas.openxmlformats.org/drawingml/2006/main">
              <a:ext uri="{FF2B5EF4-FFF2-40B4-BE49-F238E27FC236}">
                <a16:creationId xmlns:a16="http://schemas.microsoft.com/office/drawing/2014/main" id="{B297515A-2602-46C6-BE0A-F069E8F8280D}"/>
              </a:ext>
            </a:extLst>
          </p:cNvPr>
          <p:cNvSpPr>
            <a:spLocks xmlns:a="http://schemas.openxmlformats.org/drawingml/2006/main" noGrp="1"/>
          </p:cNvSpPr>
          <p:nvPr/>
        </p:nvSpPr>
        <p:spPr>
          <a:xfrm xmlns:a="http://schemas.openxmlformats.org/drawingml/2006/main">
            <a:off x="762000" y="4448175"/>
            <a:ext cx="10668000" cy="1247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625">
                <a:solidFill>
                  <a:srgbClr val="222222"/>
                </a:solidFill>
                <a:latin typeface="Arial"/>
                <a:ea typeface="Arial"/>
                <a:cs typeface="Arial"/>
              </a:defRPr>
            </a:pPr>
            <a:r>
              <a:rPr sz="2625">
                <a:solidFill>
                  <a:srgbClr val="222222"/>
                </a:solidFill>
                <a:latin typeface="Arial"/>
                <a:ea typeface="Arial"/>
                <a:cs typeface="Arial"/>
              </a:rPr>
              <a:t>Qwen3 Base    4B · 14B</a:t>
            </a:r>
          </a:p>
          <a:p xmlns:a="http://schemas.openxmlformats.org/drawingml/2006/main">
            <a:pPr>
              <a:defRPr sz="2625">
                <a:solidFill>
                  <a:srgbClr val="222222"/>
                </a:solidFill>
                <a:latin typeface="Arial"/>
                <a:ea typeface="Arial"/>
                <a:cs typeface="Arial"/>
              </a:defRPr>
            </a:pPr>
            <a:r>
              <a:rPr sz="2625">
                <a:solidFill>
                  <a:srgbClr val="222222"/>
                </a:solidFill>
                <a:latin typeface="Arial"/>
                <a:ea typeface="Arial"/>
                <a:cs typeface="Arial"/>
              </a:rPr>
              <a:t>Gemma 3 PT    1B · 4B · 12B · 27B</a:t>
            </a:r>
          </a:p>
        </p:txBody>
      </p:sp>
    </p:spTree>
    <p:extLst>
      <p:ext uri="{BB962C8B-B14F-4D97-AF65-F5344CB8AC3E}">
        <p14:creationId xmlns:p14="http://schemas.microsoft.com/office/powerpoint/2010/main" val="1669484906"/>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E93DE460-DF9D-4EBB-A487-19601E70A2A3}"/>
              </a:ext>
            </a:extLst>
          </p:cNvPr>
          <p:cNvSpPr>
            <a:spLocks xmlns:a="http://schemas.openxmlformats.org/drawingml/2006/main" noGrp="1"/>
          </p:cNvSpPr>
          <p:nvPr/>
        </p:nvSpPr>
        <p:spPr>
          <a:xfrm xmlns:a="http://schemas.openxmlformats.org/drawingml/2006/main">
            <a:off x="762000" y="647700"/>
            <a:ext cx="10668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900" b="1">
                <a:solidFill>
                  <a:srgbClr val="000000"/>
                </a:solidFill>
                <a:latin typeface="Arial"/>
                <a:ea typeface="Arial"/>
                <a:cs typeface="Arial"/>
              </a:defRPr>
            </a:pPr>
            <a:r>
              <a:rPr sz="3900" b="1">
                <a:solidFill>
                  <a:srgbClr val="000000"/>
                </a:solidFill>
                <a:latin typeface="Arial"/>
                <a:ea typeface="Arial"/>
                <a:cs typeface="Arial"/>
              </a:rPr>
              <a:t>La previsione cambia</a:t>
            </a:r>
          </a:p>
        </p:txBody>
      </p:sp>
      <p:sp>
        <p:nvSpPr>
          <p:cNvPr id="2" name="">
            <a:extLst xmlns:a="http://schemas.openxmlformats.org/drawingml/2006/main">
              <a:ext uri="{FF2B5EF4-FFF2-40B4-BE49-F238E27FC236}">
                <a16:creationId xmlns:a16="http://schemas.microsoft.com/office/drawing/2014/main" id="{BA024DBA-3184-4A3D-A36B-768DB5C78DC2}"/>
              </a:ext>
            </a:extLst>
          </p:cNvPr>
          <p:cNvSpPr>
            <a:spLocks xmlns:a="http://schemas.openxmlformats.org/drawingml/2006/main" noGrp="1"/>
          </p:cNvSpPr>
          <p:nvPr/>
        </p:nvSpPr>
        <p:spPr>
          <a:xfrm xmlns:a="http://schemas.openxmlformats.org/drawingml/2006/main">
            <a:off x="10972800" y="6210300"/>
            <a:ext cx="457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a:solidFill>
                  <a:srgbClr val="666666"/>
                </a:solidFill>
                <a:latin typeface="Arial"/>
                <a:ea typeface="Arial"/>
                <a:cs typeface="Arial"/>
              </a:defRPr>
            </a:pPr>
            <a:r>
              <a:rPr sz="1425">
                <a:solidFill>
                  <a:srgbClr val="666666"/>
                </a:solidFill>
                <a:latin typeface="Arial"/>
                <a:ea typeface="Arial"/>
                <a:cs typeface="Arial"/>
              </a:rPr>
              <a:t>07</a:t>
            </a:r>
          </a:p>
        </p:txBody>
      </p:sp>
      <p:sp>
        <p:nvSpPr>
          <p:cNvPr id="3" name="">
            <a:extLst xmlns:a="http://schemas.openxmlformats.org/drawingml/2006/main">
              <a:ext uri="{FF2B5EF4-FFF2-40B4-BE49-F238E27FC236}">
                <a16:creationId xmlns:a16="http://schemas.microsoft.com/office/drawing/2014/main" id="{79DED31A-DFE7-41B4-BD80-280782BB8B70}"/>
              </a:ext>
            </a:extLst>
          </p:cNvPr>
          <p:cNvSpPr>
            <a:spLocks xmlns:a="http://schemas.openxmlformats.org/drawingml/2006/main" noGrp="1"/>
          </p:cNvSpPr>
          <p:nvPr/>
        </p:nvSpPr>
        <p:spPr>
          <a:xfrm xmlns:a="http://schemas.openxmlformats.org/drawingml/2006/main">
            <a:off x="762000" y="1685925"/>
            <a:ext cx="106680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a:solidFill>
                  <a:srgbClr val="222222"/>
                </a:solidFill>
                <a:latin typeface="Arial"/>
                <a:ea typeface="Arial"/>
                <a:cs typeface="Arial"/>
              </a:defRPr>
            </a:pPr>
            <a:r>
              <a:rPr sz="2100">
                <a:solidFill>
                  <a:srgbClr val="222222"/>
                </a:solidFill>
                <a:latin typeface="Arial"/>
                <a:ea typeface="Arial"/>
                <a:cs typeface="Arial"/>
              </a:rPr>
              <a:t>Gemma 3 4B · ΔS medio alla parola critica, in nats</a:t>
            </a:r>
          </a:p>
        </p:txBody>
      </p:sp>
      <p:graphicFrame>
        <p:nvGraphicFramePr>
          <p:cNvPr id="9" name="Chart"/>
          <p:cNvGraphicFramePr/>
          <p:nvPr/>
        </p:nvGraphicFramePr>
        <p:xfrm>
          <a:off xmlns:a="http://schemas.openxmlformats.org/drawingml/2006/main" x="762000" y="2381250"/>
          <a:ext xmlns:a="http://schemas.openxmlformats.org/drawingml/2006/main" cx="10668000" cy="3133725"/>
        </p:xfrm>
        <a:graphic xmlns:a="http://schemas.openxmlformats.org/drawingml/2006/main">
          <a:graphicData uri="http://schemas.openxmlformats.org/drawingml/2006/chart">
            <c:chart xmlns:r="http://schemas.openxmlformats.org/officeDocument/2006/relationships" xmlns:c="http://schemas.openxmlformats.org/drawingml/2006/chart" r:id="R537c72ab767a4cc3"/>
          </a:graphicData>
        </a:graphic>
      </p:graphicFrame>
      <p:sp>
        <p:nvSpPr>
          <p:cNvPr id="5" name="">
            <a:extLst xmlns:a="http://schemas.openxmlformats.org/drawingml/2006/main">
              <a:ext uri="{FF2B5EF4-FFF2-40B4-BE49-F238E27FC236}">
                <a16:creationId xmlns:a16="http://schemas.microsoft.com/office/drawing/2014/main" id="{46F10520-D835-4E9A-BE58-4ADD97D21D78}"/>
              </a:ext>
            </a:extLst>
          </p:cNvPr>
          <p:cNvSpPr>
            <a:spLocks xmlns:a="http://schemas.openxmlformats.org/drawingml/2006/main" noGrp="1"/>
          </p:cNvSpPr>
          <p:nvPr/>
        </p:nvSpPr>
        <p:spPr>
          <a:xfrm xmlns:a="http://schemas.openxmlformats.org/drawingml/2006/main">
            <a:off x="762000" y="5743575"/>
            <a:ext cx="1047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a:solidFill>
                  <a:srgbClr val="222222"/>
                </a:solidFill>
                <a:latin typeface="Arial"/>
                <a:ea typeface="Arial"/>
                <a:cs typeface="Arial"/>
              </a:defRPr>
            </a:pPr>
            <a:r>
              <a:rPr sz="1875">
                <a:solidFill>
                  <a:srgbClr val="222222"/>
                </a:solidFill>
                <a:latin typeface="Arial"/>
                <a:ea typeface="Arial"/>
                <a:cs typeface="Arial"/>
              </a:rPr>
              <a:t>Medie descrittive su 50 coppie. Variabilità fra item.</a:t>
            </a:r>
          </a:p>
        </p:txBody>
      </p:sp>
    </p:spTree>
    <p:extLst>
      <p:ext uri="{BB962C8B-B14F-4D97-AF65-F5344CB8AC3E}">
        <p14:creationId xmlns:p14="http://schemas.microsoft.com/office/powerpoint/2010/main" val="297328791"/>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311120C9-0B5D-4589-BEF3-6492AB357AE4}"/>
              </a:ext>
            </a:extLst>
          </p:cNvPr>
          <p:cNvSpPr>
            <a:spLocks xmlns:a="http://schemas.openxmlformats.org/drawingml/2006/main" noGrp="1"/>
          </p:cNvSpPr>
          <p:nvPr/>
        </p:nvSpPr>
        <p:spPr>
          <a:xfrm xmlns:a="http://schemas.openxmlformats.org/drawingml/2006/main">
            <a:off x="762000" y="647700"/>
            <a:ext cx="10668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900" b="1">
                <a:solidFill>
                  <a:srgbClr val="000000"/>
                </a:solidFill>
                <a:latin typeface="Arial"/>
                <a:ea typeface="Arial"/>
                <a:cs typeface="Arial"/>
              </a:defRPr>
            </a:pPr>
            <a:r>
              <a:rPr sz="3900" b="1">
                <a:solidFill>
                  <a:srgbClr val="000000"/>
                </a:solidFill>
                <a:latin typeface="Arial"/>
                <a:ea typeface="Arial"/>
                <a:cs typeface="Arial"/>
              </a:rPr>
              <a:t>Ablation</a:t>
            </a:r>
          </a:p>
        </p:txBody>
      </p:sp>
      <p:sp>
        <p:nvSpPr>
          <p:cNvPr id="2" name="">
            <a:extLst xmlns:a="http://schemas.openxmlformats.org/drawingml/2006/main">
              <a:ext uri="{FF2B5EF4-FFF2-40B4-BE49-F238E27FC236}">
                <a16:creationId xmlns:a16="http://schemas.microsoft.com/office/drawing/2014/main" id="{1CA5082F-3C27-4E16-BC6C-43E8FAF61663}"/>
              </a:ext>
            </a:extLst>
          </p:cNvPr>
          <p:cNvSpPr>
            <a:spLocks xmlns:a="http://schemas.openxmlformats.org/drawingml/2006/main" noGrp="1"/>
          </p:cNvSpPr>
          <p:nvPr/>
        </p:nvSpPr>
        <p:spPr>
          <a:xfrm xmlns:a="http://schemas.openxmlformats.org/drawingml/2006/main">
            <a:off x="10972800" y="6210300"/>
            <a:ext cx="457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a:solidFill>
                  <a:srgbClr val="666666"/>
                </a:solidFill>
                <a:latin typeface="Arial"/>
                <a:ea typeface="Arial"/>
                <a:cs typeface="Arial"/>
              </a:defRPr>
            </a:pPr>
            <a:r>
              <a:rPr sz="1425">
                <a:solidFill>
                  <a:srgbClr val="666666"/>
                </a:solidFill>
                <a:latin typeface="Arial"/>
                <a:ea typeface="Arial"/>
                <a:cs typeface="Arial"/>
              </a:rPr>
              <a:t>08</a:t>
            </a:r>
          </a:p>
        </p:txBody>
      </p:sp>
      <p:sp>
        <p:nvSpPr>
          <p:cNvPr id="3" name="">
            <a:extLst xmlns:a="http://schemas.openxmlformats.org/drawingml/2006/main">
              <a:ext uri="{FF2B5EF4-FFF2-40B4-BE49-F238E27FC236}">
                <a16:creationId xmlns:a16="http://schemas.microsoft.com/office/drawing/2014/main" id="{B67B9255-4807-4930-9C25-D896AEF45CC9}"/>
              </a:ext>
            </a:extLst>
          </p:cNvPr>
          <p:cNvSpPr>
            <a:spLocks xmlns:a="http://schemas.openxmlformats.org/drawingml/2006/main" noGrp="1"/>
          </p:cNvSpPr>
          <p:nvPr/>
        </p:nvSpPr>
        <p:spPr>
          <a:xfrm xmlns:a="http://schemas.openxmlformats.org/drawingml/2006/main">
            <a:off x="762000" y="2228850"/>
            <a:ext cx="10668000" cy="1600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a:solidFill>
                  <a:srgbClr val="0000EE"/>
                </a:solidFill>
                <a:latin typeface="Arial"/>
                <a:ea typeface="Arial"/>
                <a:cs typeface="Arial"/>
              </a:defRPr>
            </a:pPr>
            <a:r>
              <a:rPr sz="3600">
                <a:solidFill>
                  <a:srgbClr val="0000EE"/>
                </a:solidFill>
                <a:latin typeface="Arial"/>
                <a:ea typeface="Arial"/>
                <a:cs typeface="Arial"/>
              </a:rPr>
              <a:t>Rimuovere un contributo.</a:t>
            </a:r>
          </a:p>
          <a:p xmlns:a="http://schemas.openxmlformats.org/drawingml/2006/main">
            <a:pPr>
              <a:defRPr sz="3600">
                <a:solidFill>
                  <a:srgbClr val="0000EE"/>
                </a:solidFill>
                <a:latin typeface="Arial"/>
                <a:ea typeface="Arial"/>
                <a:cs typeface="Arial"/>
              </a:defRPr>
            </a:pPr>
            <a:r>
              <a:rPr sz="3600">
                <a:solidFill>
                  <a:srgbClr val="0000EE"/>
                </a:solidFill>
                <a:latin typeface="Arial"/>
                <a:ea typeface="Arial"/>
                <a:cs typeface="Arial"/>
              </a:rPr>
              <a:t>Misurare che cosa cambia.</a:t>
            </a:r>
          </a:p>
        </p:txBody>
      </p:sp>
      <p:sp>
        <p:nvSpPr>
          <p:cNvPr id="4" name="">
            <a:extLst xmlns:a="http://schemas.openxmlformats.org/drawingml/2006/main">
              <a:ext uri="{FF2B5EF4-FFF2-40B4-BE49-F238E27FC236}">
                <a16:creationId xmlns:a16="http://schemas.microsoft.com/office/drawing/2014/main" id="{ED73207B-BB94-433D-ADE4-4FC705B8620B}"/>
              </a:ext>
            </a:extLst>
          </p:cNvPr>
          <p:cNvSpPr>
            <a:spLocks xmlns:a="http://schemas.openxmlformats.org/drawingml/2006/main" noGrp="1"/>
          </p:cNvSpPr>
          <p:nvPr/>
        </p:nvSpPr>
        <p:spPr>
          <a:xfrm xmlns:a="http://schemas.openxmlformats.org/drawingml/2006/main">
            <a:off x="762000" y="4638675"/>
            <a:ext cx="10668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850">
                <a:solidFill>
                  <a:srgbClr val="222222"/>
                </a:solidFill>
                <a:latin typeface="Arial"/>
                <a:ea typeface="Arial"/>
                <a:cs typeface="Arial"/>
              </a:defRPr>
            </a:pPr>
            <a:r>
              <a:rPr sz="2850">
                <a:solidFill>
                  <a:srgbClr val="222222"/>
                </a:solidFill>
                <a:latin typeface="Arial"/>
                <a:ea typeface="Arial"/>
                <a:cs typeface="Arial"/>
              </a:rPr>
              <a:t>Nessun circuito specifico di rianalisi stabilito.</a:t>
            </a:r>
          </a:p>
        </p:txBody>
      </p:sp>
    </p:spTree>
    <p:extLst>
      <p:ext uri="{BB962C8B-B14F-4D97-AF65-F5344CB8AC3E}">
        <p14:creationId xmlns:p14="http://schemas.microsoft.com/office/powerpoint/2010/main" val="651317417"/>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FFA35357-6820-4DEB-B68A-2B38C9CE53F8}"/>
              </a:ext>
            </a:extLst>
          </p:cNvPr>
          <p:cNvSpPr>
            <a:spLocks xmlns:a="http://schemas.openxmlformats.org/drawingml/2006/main" noGrp="1"/>
          </p:cNvSpPr>
          <p:nvPr/>
        </p:nvSpPr>
        <p:spPr>
          <a:xfrm xmlns:a="http://schemas.openxmlformats.org/drawingml/2006/main">
            <a:off x="762000" y="647700"/>
            <a:ext cx="10668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900" b="1">
                <a:solidFill>
                  <a:srgbClr val="000000"/>
                </a:solidFill>
                <a:latin typeface="Arial"/>
                <a:ea typeface="Arial"/>
                <a:cs typeface="Arial"/>
              </a:defRPr>
            </a:pPr>
            <a:r>
              <a:rPr sz="3900" b="1">
                <a:solidFill>
                  <a:srgbClr val="000000"/>
                </a:solidFill>
                <a:latin typeface="Arial"/>
                <a:ea typeface="Arial"/>
                <a:cs typeface="Arial"/>
              </a:rPr>
              <a:t>Activation patching</a:t>
            </a:r>
          </a:p>
        </p:txBody>
      </p:sp>
      <p:sp>
        <p:nvSpPr>
          <p:cNvPr id="2" name="">
            <a:extLst xmlns:a="http://schemas.openxmlformats.org/drawingml/2006/main">
              <a:ext uri="{FF2B5EF4-FFF2-40B4-BE49-F238E27FC236}">
                <a16:creationId xmlns:a16="http://schemas.microsoft.com/office/drawing/2014/main" id="{0560EDC8-1323-4F1C-AE5E-569F702E436C}"/>
              </a:ext>
            </a:extLst>
          </p:cNvPr>
          <p:cNvSpPr>
            <a:spLocks xmlns:a="http://schemas.openxmlformats.org/drawingml/2006/main" noGrp="1"/>
          </p:cNvSpPr>
          <p:nvPr/>
        </p:nvSpPr>
        <p:spPr>
          <a:xfrm xmlns:a="http://schemas.openxmlformats.org/drawingml/2006/main">
            <a:off x="10972800" y="6210300"/>
            <a:ext cx="457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a:solidFill>
                  <a:srgbClr val="666666"/>
                </a:solidFill>
                <a:latin typeface="Arial"/>
                <a:ea typeface="Arial"/>
                <a:cs typeface="Arial"/>
              </a:defRPr>
            </a:pPr>
            <a:r>
              <a:rPr sz="1425">
                <a:solidFill>
                  <a:srgbClr val="666666"/>
                </a:solidFill>
                <a:latin typeface="Arial"/>
                <a:ea typeface="Arial"/>
                <a:cs typeface="Arial"/>
              </a:rPr>
              <a:t>09</a:t>
            </a:r>
          </a:p>
        </p:txBody>
      </p:sp>
      <p:sp>
        <p:nvSpPr>
          <p:cNvPr id="3" name="">
            <a:extLst xmlns:a="http://schemas.openxmlformats.org/drawingml/2006/main">
              <a:ext uri="{FF2B5EF4-FFF2-40B4-BE49-F238E27FC236}">
                <a16:creationId xmlns:a16="http://schemas.microsoft.com/office/drawing/2014/main" id="{96173367-D2E2-4D39-9B57-0459E33F45AF}"/>
              </a:ext>
            </a:extLst>
          </p:cNvPr>
          <p:cNvSpPr>
            <a:spLocks xmlns:a="http://schemas.openxmlformats.org/drawingml/2006/main" noGrp="1"/>
          </p:cNvSpPr>
          <p:nvPr/>
        </p:nvSpPr>
        <p:spPr>
          <a:xfrm xmlns:a="http://schemas.openxmlformats.org/drawingml/2006/main">
            <a:off x="762000" y="2114550"/>
            <a:ext cx="10668000" cy="140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a:solidFill>
                  <a:srgbClr val="222222"/>
                </a:solidFill>
                <a:latin typeface="Courier New"/>
                <a:ea typeface="Courier New"/>
                <a:cs typeface="Courier New"/>
              </a:defRPr>
            </a:pPr>
            <a:r>
              <a:rPr sz="2400">
                <a:solidFill>
                  <a:srgbClr val="222222"/>
                </a:solidFill>
                <a:latin typeface="Courier New"/>
                <a:ea typeface="Courier New"/>
                <a:cs typeface="Courier New"/>
              </a:rPr>
              <a:t>Donatore     The old people man the boat.</a:t>
            </a:r>
          </a:p>
          <a:p xmlns:a="http://schemas.openxmlformats.org/drawingml/2006/main">
            <a:pPr>
              <a:defRPr sz="2400">
                <a:solidFill>
                  <a:srgbClr val="222222"/>
                </a:solidFill>
                <a:latin typeface="Courier New"/>
                <a:ea typeface="Courier New"/>
                <a:cs typeface="Courier New"/>
              </a:defRPr>
            </a:pPr>
            <a:r>
              <a:rPr sz="2400">
                <a:solidFill>
                  <a:srgbClr val="222222"/>
                </a:solidFill>
                <a:latin typeface="Courier New"/>
                <a:ea typeface="Courier New"/>
                <a:cs typeface="Courier New"/>
              </a:rPr>
              <a:t>Destinatario The old man the boat.</a:t>
            </a:r>
          </a:p>
        </p:txBody>
      </p:sp>
      <p:sp>
        <p:nvSpPr>
          <p:cNvPr id="4" name="">
            <a:extLst xmlns:a="http://schemas.openxmlformats.org/drawingml/2006/main">
              <a:ext uri="{FF2B5EF4-FFF2-40B4-BE49-F238E27FC236}">
                <a16:creationId xmlns:a16="http://schemas.microsoft.com/office/drawing/2014/main" id="{2151065D-CB3A-43AE-8719-2A96E056301E}"/>
              </a:ext>
            </a:extLst>
          </p:cNvPr>
          <p:cNvSpPr>
            <a:spLocks xmlns:a="http://schemas.openxmlformats.org/drawingml/2006/main" noGrp="1"/>
          </p:cNvSpPr>
          <p:nvPr/>
        </p:nvSpPr>
        <p:spPr>
          <a:xfrm xmlns:a="http://schemas.openxmlformats.org/drawingml/2006/main">
            <a:off x="762000" y="4038600"/>
            <a:ext cx="106680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a:solidFill>
                  <a:srgbClr val="0000EE"/>
                </a:solidFill>
                <a:latin typeface="Arial"/>
                <a:ea typeface="Arial"/>
                <a:cs typeface="Arial"/>
              </a:defRPr>
            </a:pPr>
            <a:r>
              <a:rPr sz="3150">
                <a:solidFill>
                  <a:srgbClr val="0000EE"/>
                </a:solidFill>
                <a:latin typeface="Arial"/>
                <a:ea typeface="Arial"/>
                <a:cs typeface="Arial"/>
              </a:rPr>
              <a:t>Copia dello stato di man, layer per layer</a:t>
            </a:r>
          </a:p>
        </p:txBody>
      </p:sp>
      <p:sp>
        <p:nvSpPr>
          <p:cNvPr id="5" name="">
            <a:extLst xmlns:a="http://schemas.openxmlformats.org/drawingml/2006/main">
              <a:ext uri="{FF2B5EF4-FFF2-40B4-BE49-F238E27FC236}">
                <a16:creationId xmlns:a16="http://schemas.microsoft.com/office/drawing/2014/main" id="{027D6B90-06DC-4FEA-A9BF-ADC1919F544F}"/>
              </a:ext>
            </a:extLst>
          </p:cNvPr>
          <p:cNvSpPr>
            <a:spLocks xmlns:a="http://schemas.openxmlformats.org/drawingml/2006/main" noGrp="1"/>
          </p:cNvSpPr>
          <p:nvPr/>
        </p:nvSpPr>
        <p:spPr>
          <a:xfrm xmlns:a="http://schemas.openxmlformats.org/drawingml/2006/main">
            <a:off x="762000" y="5400675"/>
            <a:ext cx="106680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75">
                <a:solidFill>
                  <a:srgbClr val="222222"/>
                </a:solidFill>
                <a:latin typeface="Arial"/>
                <a:ea typeface="Arial"/>
                <a:cs typeface="Arial"/>
              </a:defRPr>
            </a:pPr>
            <a:r>
              <a:rPr sz="2475">
                <a:solidFill>
                  <a:srgbClr val="222222"/>
                </a:solidFill>
                <a:latin typeface="Arial"/>
                <a:ea typeface="Arial"/>
                <a:cs typeface="Arial"/>
              </a:rPr>
              <a:t>Misura: surprisal di boat</a:t>
            </a:r>
          </a:p>
        </p:txBody>
      </p:sp>
    </p:spTree>
    <p:extLst>
      <p:ext uri="{BB962C8B-B14F-4D97-AF65-F5344CB8AC3E}">
        <p14:creationId xmlns:p14="http://schemas.microsoft.com/office/powerpoint/2010/main" val="264651633"/>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921B4CF2-3921-48FB-B812-564466D659E1}"/>
              </a:ext>
            </a:extLst>
          </p:cNvPr>
          <p:cNvSpPr>
            <a:spLocks xmlns:a="http://schemas.openxmlformats.org/drawingml/2006/main" noGrp="1"/>
          </p:cNvSpPr>
          <p:nvPr/>
        </p:nvSpPr>
        <p:spPr>
          <a:xfrm xmlns:a="http://schemas.openxmlformats.org/drawingml/2006/main">
            <a:off x="762000" y="647700"/>
            <a:ext cx="10668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900" b="1">
                <a:solidFill>
                  <a:srgbClr val="000000"/>
                </a:solidFill>
                <a:latin typeface="Arial"/>
                <a:ea typeface="Arial"/>
                <a:cs typeface="Arial"/>
              </a:defRPr>
            </a:pPr>
            <a:r>
              <a:rPr sz="3900" b="1">
                <a:solidFill>
                  <a:srgbClr val="000000"/>
                </a:solidFill>
                <a:latin typeface="Arial"/>
                <a:ea typeface="Arial"/>
                <a:cs typeface="Arial"/>
              </a:rPr>
              <a:t>Il recupero del gap</a:t>
            </a:r>
          </a:p>
        </p:txBody>
      </p:sp>
      <p:sp>
        <p:nvSpPr>
          <p:cNvPr id="2" name="">
            <a:extLst xmlns:a="http://schemas.openxmlformats.org/drawingml/2006/main">
              <a:ext uri="{FF2B5EF4-FFF2-40B4-BE49-F238E27FC236}">
                <a16:creationId xmlns:a16="http://schemas.microsoft.com/office/drawing/2014/main" id="{C6573164-0636-4679-BDBA-4F506CB8D438}"/>
              </a:ext>
            </a:extLst>
          </p:cNvPr>
          <p:cNvSpPr>
            <a:spLocks xmlns:a="http://schemas.openxmlformats.org/drawingml/2006/main" noGrp="1"/>
          </p:cNvSpPr>
          <p:nvPr/>
        </p:nvSpPr>
        <p:spPr>
          <a:xfrm xmlns:a="http://schemas.openxmlformats.org/drawingml/2006/main">
            <a:off x="10972800" y="6210300"/>
            <a:ext cx="457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a:solidFill>
                  <a:srgbClr val="666666"/>
                </a:solidFill>
                <a:latin typeface="Arial"/>
                <a:ea typeface="Arial"/>
                <a:cs typeface="Arial"/>
              </a:defRPr>
            </a:pPr>
            <a:r>
              <a:rPr sz="1425">
                <a:solidFill>
                  <a:srgbClr val="666666"/>
                </a:solidFill>
                <a:latin typeface="Arial"/>
                <a:ea typeface="Arial"/>
                <a:cs typeface="Arial"/>
              </a:rPr>
              <a:t>10</a:t>
            </a:r>
          </a:p>
        </p:txBody>
      </p:sp>
      <p:graphicFrame>
        <p:nvGraphicFramePr>
          <p:cNvPr id="8" name=""/>
          <p:cNvGraphicFramePr/>
          <p:nvPr/>
        </p:nvGraphicFramePr>
        <p:xfrm>
          <a:off xmlns:a="http://schemas.openxmlformats.org/drawingml/2006/main" x="762000" y="1981200"/>
          <a:ext xmlns:a="http://schemas.openxmlformats.org/drawingml/2006/main" cx="10668000" cy="3295650"/>
        </p:xfrm>
        <a:graphic xmlns:a="http://schemas.openxmlformats.org/drawingml/2006/main">
          <a:graphicData uri="http://schemas.openxmlformats.org/drawingml/2006/table">
            <a:tbl>
              <a:tblPr firstRow="0" bandRow="0"/>
              <a:tblGrid>
                <a:gridCol w="2667000"/>
                <a:gridCol w="4191000"/>
                <a:gridCol w="3810000"/>
              </a:tblGrid>
              <a:tr h="659130">
                <a:tc>
                  <a:txBody>
                    <a:bodyPr/>
                    <a:lstStyle/>
                    <a:p>
                      <a:r>
                        <a:rPr sz="2100" b="1">
                          <a:solidFill>
                            <a:srgbClr val="222222"/>
                          </a:solidFill>
                          <a:latin typeface="Arial"/>
                          <a:ea typeface="Arial"/>
                          <a:cs typeface="Arial"/>
                        </a:rPr>
                        <a:t>Gemma 3</a:t>
                      </a:r>
                    </a:p>
                  </a:txBody>
                  <a:tcPr marL="152400" marR="114300" marT="114300" marB="114300">
                    <a:solidFill>
                      <a:srgbClr val="FFFFFF"/>
                    </a:solidFill>
                  </a:tcPr>
                </a:tc>
                <a:tc>
                  <a:txBody>
                    <a:bodyPr/>
                    <a:lstStyle/>
                    <a:p>
                      <a:r>
                        <a:rPr sz="2100" b="1">
                          <a:solidFill>
                            <a:srgbClr val="222222"/>
                          </a:solidFill>
                          <a:latin typeface="Arial"/>
                          <a:ea typeface="Arial"/>
                          <a:cs typeface="Arial"/>
                        </a:rPr>
                        <a:t>Layer / profondità</a:t>
                      </a:r>
                    </a:p>
                  </a:txBody>
                  <a:tcPr marL="152400" marR="114300" marT="114300" marB="114300">
                    <a:solidFill>
                      <a:srgbClr val="FFFFFF"/>
                    </a:solidFill>
                  </a:tcPr>
                </a:tc>
                <a:tc>
                  <a:txBody>
                    <a:bodyPr/>
                    <a:lstStyle/>
                    <a:p>
                      <a:r>
                        <a:rPr sz="2100" b="1">
                          <a:solidFill>
                            <a:srgbClr val="222222"/>
                          </a:solidFill>
                          <a:latin typeface="Arial"/>
                          <a:ea typeface="Arial"/>
                          <a:cs typeface="Arial"/>
                        </a:rPr>
                        <a:t>Gap recuperato</a:t>
                      </a:r>
                    </a:p>
                  </a:txBody>
                  <a:tcPr marL="152400" marR="114300" marT="114300" marB="114300">
                    <a:solidFill>
                      <a:srgbClr val="FFFFFF"/>
                    </a:solidFill>
                  </a:tcPr>
                </a:tc>
              </a:tr>
              <a:tr h="659130">
                <a:tc>
                  <a:txBody>
                    <a:bodyPr/>
                    <a:lstStyle/>
                    <a:p>
                      <a:r>
                        <a:rPr sz="2400">
                          <a:solidFill>
                            <a:srgbClr val="222222"/>
                          </a:solidFill>
                          <a:latin typeface="Arial"/>
                          <a:ea typeface="Arial"/>
                          <a:cs typeface="Arial"/>
                        </a:rPr>
                        <a:t>1B</a:t>
                      </a:r>
                    </a:p>
                  </a:txBody>
                  <a:tcPr marL="152400" marR="114300" marT="114300" marB="114300">
                    <a:solidFill>
                      <a:srgbClr val="FFFFFF"/>
                    </a:solidFill>
                  </a:tcPr>
                </a:tc>
                <a:tc>
                  <a:txBody>
                    <a:bodyPr/>
                    <a:lstStyle/>
                    <a:p>
                      <a:r>
                        <a:rPr sz="2400">
                          <a:solidFill>
                            <a:srgbClr val="222222"/>
                          </a:solidFill>
                          <a:latin typeface="Arial"/>
                          <a:ea typeface="Arial"/>
                          <a:cs typeface="Arial"/>
                        </a:rPr>
                        <a:t>2 / 26</a:t>
                      </a:r>
                    </a:p>
                  </a:txBody>
                  <a:tcPr marL="152400" marR="114300" marT="114300" marB="114300">
                    <a:solidFill>
                      <a:srgbClr val="FFFFFF"/>
                    </a:solidFill>
                  </a:tcPr>
                </a:tc>
                <a:tc>
                  <a:txBody>
                    <a:bodyPr/>
                    <a:lstStyle/>
                    <a:p>
                      <a:r>
                        <a:rPr sz="2400">
                          <a:solidFill>
                            <a:srgbClr val="222222"/>
                          </a:solidFill>
                          <a:latin typeface="Arial"/>
                          <a:ea typeface="Arial"/>
                          <a:cs typeface="Arial"/>
                        </a:rPr>
                        <a:t>58%</a:t>
                      </a:r>
                    </a:p>
                  </a:txBody>
                  <a:tcPr marL="152400" marR="114300" marT="114300" marB="114300">
                    <a:solidFill>
                      <a:srgbClr val="FFFFFF"/>
                    </a:solidFill>
                  </a:tcPr>
                </a:tc>
              </a:tr>
              <a:tr h="659130">
                <a:tc>
                  <a:txBody>
                    <a:bodyPr/>
                    <a:lstStyle/>
                    <a:p>
                      <a:r>
                        <a:rPr sz="2400">
                          <a:solidFill>
                            <a:srgbClr val="222222"/>
                          </a:solidFill>
                          <a:latin typeface="Arial"/>
                          <a:ea typeface="Arial"/>
                          <a:cs typeface="Arial"/>
                        </a:rPr>
                        <a:t>4B</a:t>
                      </a:r>
                    </a:p>
                  </a:txBody>
                  <a:tcPr marL="152400" marR="114300" marT="114300" marB="114300">
                    <a:solidFill>
                      <a:srgbClr val="FFFFFF"/>
                    </a:solidFill>
                  </a:tcPr>
                </a:tc>
                <a:tc>
                  <a:txBody>
                    <a:bodyPr/>
                    <a:lstStyle/>
                    <a:p>
                      <a:r>
                        <a:rPr sz="2400">
                          <a:solidFill>
                            <a:srgbClr val="222222"/>
                          </a:solidFill>
                          <a:latin typeface="Arial"/>
                          <a:ea typeface="Arial"/>
                          <a:cs typeface="Arial"/>
                        </a:rPr>
                        <a:t>2 / 34</a:t>
                      </a:r>
                    </a:p>
                  </a:txBody>
                  <a:tcPr marL="152400" marR="114300" marT="114300" marB="114300">
                    <a:solidFill>
                      <a:srgbClr val="FFFFFF"/>
                    </a:solidFill>
                  </a:tcPr>
                </a:tc>
                <a:tc>
                  <a:txBody>
                    <a:bodyPr/>
                    <a:lstStyle/>
                    <a:p>
                      <a:r>
                        <a:rPr sz="2400">
                          <a:solidFill>
                            <a:srgbClr val="222222"/>
                          </a:solidFill>
                          <a:latin typeface="Arial"/>
                          <a:ea typeface="Arial"/>
                          <a:cs typeface="Arial"/>
                        </a:rPr>
                        <a:t>51%</a:t>
                      </a:r>
                    </a:p>
                  </a:txBody>
                  <a:tcPr marL="152400" marR="114300" marT="114300" marB="114300">
                    <a:solidFill>
                      <a:srgbClr val="FFFFFF"/>
                    </a:solidFill>
                  </a:tcPr>
                </a:tc>
              </a:tr>
              <a:tr h="659130">
                <a:tc>
                  <a:txBody>
                    <a:bodyPr/>
                    <a:lstStyle/>
                    <a:p>
                      <a:r>
                        <a:rPr sz="2400">
                          <a:solidFill>
                            <a:srgbClr val="222222"/>
                          </a:solidFill>
                          <a:latin typeface="Arial"/>
                          <a:ea typeface="Arial"/>
                          <a:cs typeface="Arial"/>
                        </a:rPr>
                        <a:t>12B</a:t>
                      </a:r>
                    </a:p>
                  </a:txBody>
                  <a:tcPr marL="152400" marR="114300" marT="114300" marB="114300">
                    <a:solidFill>
                      <a:srgbClr val="FFFFFF"/>
                    </a:solidFill>
                  </a:tcPr>
                </a:tc>
                <a:tc>
                  <a:txBody>
                    <a:bodyPr/>
                    <a:lstStyle/>
                    <a:p>
                      <a:r>
                        <a:rPr sz="2400">
                          <a:solidFill>
                            <a:srgbClr val="222222"/>
                          </a:solidFill>
                          <a:latin typeface="Arial"/>
                          <a:ea typeface="Arial"/>
                          <a:cs typeface="Arial"/>
                        </a:rPr>
                        <a:t>24 / 48</a:t>
                      </a:r>
                    </a:p>
                  </a:txBody>
                  <a:tcPr marL="152400" marR="114300" marT="114300" marB="114300">
                    <a:solidFill>
                      <a:srgbClr val="FFFFFF"/>
                    </a:solidFill>
                  </a:tcPr>
                </a:tc>
                <a:tc>
                  <a:txBody>
                    <a:bodyPr/>
                    <a:lstStyle/>
                    <a:p>
                      <a:r>
                        <a:rPr sz="2400">
                          <a:solidFill>
                            <a:srgbClr val="222222"/>
                          </a:solidFill>
                          <a:latin typeface="Arial"/>
                          <a:ea typeface="Arial"/>
                          <a:cs typeface="Arial"/>
                        </a:rPr>
                        <a:t>45%</a:t>
                      </a:r>
                    </a:p>
                  </a:txBody>
                  <a:tcPr marL="152400" marR="114300" marT="114300" marB="114300">
                    <a:solidFill>
                      <a:srgbClr val="FFFFFF"/>
                    </a:solidFill>
                  </a:tcPr>
                </a:tc>
              </a:tr>
              <a:tr h="659130">
                <a:tc>
                  <a:txBody>
                    <a:bodyPr/>
                    <a:lstStyle/>
                    <a:p>
                      <a:r>
                        <a:rPr sz="2400">
                          <a:solidFill>
                            <a:srgbClr val="222222"/>
                          </a:solidFill>
                          <a:latin typeface="Arial"/>
                          <a:ea typeface="Arial"/>
                          <a:cs typeface="Arial"/>
                        </a:rPr>
                        <a:t>27B</a:t>
                      </a:r>
                    </a:p>
                  </a:txBody>
                  <a:tcPr marL="152400" marR="114300" marT="114300" marB="114300">
                    <a:solidFill>
                      <a:srgbClr val="FFFFFF"/>
                    </a:solidFill>
                  </a:tcPr>
                </a:tc>
                <a:tc>
                  <a:txBody>
                    <a:bodyPr/>
                    <a:lstStyle/>
                    <a:p>
                      <a:r>
                        <a:rPr sz="2400">
                          <a:solidFill>
                            <a:srgbClr val="222222"/>
                          </a:solidFill>
                          <a:latin typeface="Arial"/>
                          <a:ea typeface="Arial"/>
                          <a:cs typeface="Arial"/>
                        </a:rPr>
                        <a:t>28 / 62</a:t>
                      </a:r>
                    </a:p>
                  </a:txBody>
                  <a:tcPr marL="152400" marR="114300" marT="114300" marB="114300">
                    <a:solidFill>
                      <a:srgbClr val="FFFFFF"/>
                    </a:solidFill>
                  </a:tcPr>
                </a:tc>
                <a:tc>
                  <a:txBody>
                    <a:bodyPr/>
                    <a:lstStyle/>
                    <a:p>
                      <a:r>
                        <a:rPr sz="2400">
                          <a:solidFill>
                            <a:srgbClr val="222222"/>
                          </a:solidFill>
                          <a:latin typeface="Arial"/>
                          <a:ea typeface="Arial"/>
                          <a:cs typeface="Arial"/>
                        </a:rPr>
                        <a:t>59%</a:t>
                      </a:r>
                    </a:p>
                  </a:txBody>
                  <a:tcPr marL="152400" marR="114300" marT="114300" marB="114300">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AC97D78B-BCD6-4801-87E6-5BA45D503FCE}"/>
              </a:ext>
            </a:extLst>
          </p:cNvPr>
          <p:cNvSpPr>
            <a:spLocks xmlns:a="http://schemas.openxmlformats.org/drawingml/2006/main" noGrp="1"/>
          </p:cNvSpPr>
          <p:nvPr/>
        </p:nvSpPr>
        <p:spPr>
          <a:xfrm xmlns:a="http://schemas.openxmlformats.org/drawingml/2006/main">
            <a:off x="762000" y="5514975"/>
            <a:ext cx="10668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a:solidFill>
                  <a:srgbClr val="222222"/>
                </a:solidFill>
                <a:latin typeface="Arial"/>
                <a:ea typeface="Arial"/>
                <a:cs typeface="Arial"/>
              </a:defRPr>
            </a:pPr>
            <a:r>
              <a:rPr sz="1950">
                <a:solidFill>
                  <a:srgbClr val="222222"/>
                </a:solidFill>
                <a:latin typeface="Arial"/>
                <a:ea typeface="Arial"/>
                <a:cs typeface="Arial"/>
              </a:rPr>
              <a:t>Patch su man · 20 coppie NV · layer indicizzati da zero</a:t>
            </a:r>
          </a:p>
        </p:txBody>
      </p:sp>
      <p:sp>
        <p:nvSpPr>
          <p:cNvPr id="5" name="">
            <a:extLst xmlns:a="http://schemas.openxmlformats.org/drawingml/2006/main">
              <a:ext uri="{FF2B5EF4-FFF2-40B4-BE49-F238E27FC236}">
                <a16:creationId xmlns:a16="http://schemas.microsoft.com/office/drawing/2014/main" id="{48C0AD12-EDD1-40A3-AB3F-23F34EFC2983}"/>
              </a:ext>
            </a:extLst>
          </p:cNvPr>
          <p:cNvSpPr>
            <a:spLocks xmlns:a="http://schemas.openxmlformats.org/drawingml/2006/main" noGrp="1"/>
          </p:cNvSpPr>
          <p:nvPr/>
        </p:nvSpPr>
        <p:spPr>
          <a:xfrm xmlns:a="http://schemas.openxmlformats.org/drawingml/2006/main">
            <a:off x="762000" y="5924550"/>
            <a:ext cx="10191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a:solidFill>
                  <a:srgbClr val="0000EE"/>
                </a:solidFill>
                <a:latin typeface="Arial"/>
                <a:ea typeface="Arial"/>
                <a:cs typeface="Arial"/>
              </a:defRPr>
            </a:pPr>
            <a:r>
              <a:rPr sz="1875">
                <a:solidFill>
                  <a:srgbClr val="0000EE"/>
                </a:solidFill>
                <a:latin typeface="Arial"/>
                <a:ea typeface="Arial"/>
                <a:cs typeface="Arial"/>
              </a:rPr>
              <a:t>Picchi descrittivi, selezionati sugli stessi dati</a:t>
            </a:r>
          </a:p>
        </p:txBody>
      </p:sp>
    </p:spTree>
    <p:extLst>
      <p:ext uri="{BB962C8B-B14F-4D97-AF65-F5344CB8AC3E}">
        <p14:creationId xmlns:p14="http://schemas.microsoft.com/office/powerpoint/2010/main" val="1177144285"/>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848349AB-8721-4B45-A842-FE898E52D1D5}"/>
              </a:ext>
            </a:extLst>
          </p:cNvPr>
          <p:cNvSpPr>
            <a:spLocks xmlns:a="http://schemas.openxmlformats.org/drawingml/2006/main" noGrp="1"/>
          </p:cNvSpPr>
          <p:nvPr/>
        </p:nvSpPr>
        <p:spPr>
          <a:xfrm xmlns:a="http://schemas.openxmlformats.org/drawingml/2006/main">
            <a:off x="762000" y="647700"/>
            <a:ext cx="10668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900" b="1">
                <a:solidFill>
                  <a:srgbClr val="000000"/>
                </a:solidFill>
                <a:latin typeface="Arial"/>
                <a:ea typeface="Arial"/>
                <a:cs typeface="Arial"/>
              </a:defRPr>
            </a:pPr>
            <a:r>
              <a:rPr sz="3900" b="1">
                <a:solidFill>
                  <a:srgbClr val="000000"/>
                </a:solidFill>
                <a:latin typeface="Arial"/>
                <a:ea typeface="Arial"/>
                <a:cs typeface="Arial"/>
              </a:rPr>
              <a:t>Quanto possiamo concludere?</a:t>
            </a:r>
          </a:p>
        </p:txBody>
      </p:sp>
      <p:sp>
        <p:nvSpPr>
          <p:cNvPr id="2" name="">
            <a:extLst xmlns:a="http://schemas.openxmlformats.org/drawingml/2006/main">
              <a:ext uri="{FF2B5EF4-FFF2-40B4-BE49-F238E27FC236}">
                <a16:creationId xmlns:a16="http://schemas.microsoft.com/office/drawing/2014/main" id="{8DFA9EE7-2746-4238-93B6-69BD61E66683}"/>
              </a:ext>
            </a:extLst>
          </p:cNvPr>
          <p:cNvSpPr>
            <a:spLocks xmlns:a="http://schemas.openxmlformats.org/drawingml/2006/main" noGrp="1"/>
          </p:cNvSpPr>
          <p:nvPr/>
        </p:nvSpPr>
        <p:spPr>
          <a:xfrm xmlns:a="http://schemas.openxmlformats.org/drawingml/2006/main">
            <a:off x="10972800" y="6210300"/>
            <a:ext cx="457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a:solidFill>
                  <a:srgbClr val="666666"/>
                </a:solidFill>
                <a:latin typeface="Arial"/>
                <a:ea typeface="Arial"/>
                <a:cs typeface="Arial"/>
              </a:defRPr>
            </a:pPr>
            <a:r>
              <a:rPr sz="1425">
                <a:solidFill>
                  <a:srgbClr val="666666"/>
                </a:solidFill>
                <a:latin typeface="Arial"/>
                <a:ea typeface="Arial"/>
                <a:cs typeface="Arial"/>
              </a:rPr>
              <a:t>11</a:t>
            </a:r>
          </a:p>
        </p:txBody>
      </p:sp>
      <p:sp>
        <p:nvSpPr>
          <p:cNvPr id="3" name="">
            <a:extLst xmlns:a="http://schemas.openxmlformats.org/drawingml/2006/main">
              <a:ext uri="{FF2B5EF4-FFF2-40B4-BE49-F238E27FC236}">
                <a16:creationId xmlns:a16="http://schemas.microsoft.com/office/drawing/2014/main" id="{27A82669-133F-45EE-9E78-B9B158F4EF91}"/>
              </a:ext>
            </a:extLst>
          </p:cNvPr>
          <p:cNvSpPr>
            <a:spLocks xmlns:a="http://schemas.openxmlformats.org/drawingml/2006/main" noGrp="1"/>
          </p:cNvSpPr>
          <p:nvPr/>
        </p:nvSpPr>
        <p:spPr>
          <a:xfrm xmlns:a="http://schemas.openxmlformats.org/drawingml/2006/main">
            <a:off x="762000" y="2305050"/>
            <a:ext cx="106680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a:solidFill>
                  <a:srgbClr val="0000EE"/>
                </a:solidFill>
                <a:latin typeface="Arial"/>
                <a:ea typeface="Arial"/>
                <a:cs typeface="Arial"/>
              </a:defRPr>
            </a:pPr>
            <a:r>
              <a:rPr sz="3450">
                <a:solidFill>
                  <a:srgbClr val="0000EE"/>
                </a:solidFill>
                <a:latin typeface="Arial"/>
                <a:ea typeface="Arial"/>
                <a:cs typeface="Arial"/>
              </a:rPr>
              <a:t>Il picco localizza una sensibilità al patch.</a:t>
            </a:r>
          </a:p>
        </p:txBody>
      </p:sp>
      <p:sp>
        <p:nvSpPr>
          <p:cNvPr id="4" name="">
            <a:extLst xmlns:a="http://schemas.openxmlformats.org/drawingml/2006/main">
              <a:ext uri="{FF2B5EF4-FFF2-40B4-BE49-F238E27FC236}">
                <a16:creationId xmlns:a16="http://schemas.microsoft.com/office/drawing/2014/main" id="{F1560E67-671A-4E4D-9DDC-8FF5003674F5}"/>
              </a:ext>
            </a:extLst>
          </p:cNvPr>
          <p:cNvSpPr>
            <a:spLocks xmlns:a="http://schemas.openxmlformats.org/drawingml/2006/main" noGrp="1"/>
          </p:cNvSpPr>
          <p:nvPr/>
        </p:nvSpPr>
        <p:spPr>
          <a:xfrm xmlns:a="http://schemas.openxmlformats.org/drawingml/2006/main">
            <a:off x="762000" y="4162425"/>
            <a:ext cx="1066800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a:solidFill>
                  <a:srgbClr val="222222"/>
                </a:solidFill>
                <a:latin typeface="Arial"/>
                <a:ea typeface="Arial"/>
                <a:cs typeface="Arial"/>
              </a:defRPr>
            </a:pPr>
            <a:r>
              <a:rPr sz="3300">
                <a:solidFill>
                  <a:srgbClr val="222222"/>
                </a:solidFill>
                <a:latin typeface="Arial"/>
                <a:ea typeface="Arial"/>
                <a:cs typeface="Arial"/>
              </a:rPr>
              <a:t>La decisione sulla sintassi</a:t>
            </a:r>
          </a:p>
          <a:p xmlns:a="http://schemas.openxmlformats.org/drawingml/2006/main">
            <a:pPr>
              <a:defRPr sz="3300">
                <a:solidFill>
                  <a:srgbClr val="222222"/>
                </a:solidFill>
                <a:latin typeface="Arial"/>
                <a:ea typeface="Arial"/>
                <a:cs typeface="Arial"/>
              </a:defRPr>
            </a:pPr>
            <a:r>
              <a:rPr sz="3300">
                <a:solidFill>
                  <a:srgbClr val="222222"/>
                </a:solidFill>
                <a:latin typeface="Arial"/>
                <a:ea typeface="Arial"/>
                <a:cs typeface="Arial"/>
              </a:rPr>
              <a:t>resta da identificare.</a:t>
            </a:r>
          </a:p>
        </p:txBody>
      </p:sp>
    </p:spTree>
    <p:extLst>
      <p:ext uri="{BB962C8B-B14F-4D97-AF65-F5344CB8AC3E}">
        <p14:creationId xmlns:p14="http://schemas.microsoft.com/office/powerpoint/2010/main" val="1097270032"/>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A998509D-04D0-4BA7-A2B7-E25F60421615}"/>
              </a:ext>
            </a:extLst>
          </p:cNvPr>
          <p:cNvSpPr>
            <a:spLocks xmlns:a="http://schemas.openxmlformats.org/drawingml/2006/main" noGrp="1"/>
          </p:cNvSpPr>
          <p:nvPr/>
        </p:nvSpPr>
        <p:spPr>
          <a:xfrm xmlns:a="http://schemas.openxmlformats.org/drawingml/2006/main">
            <a:off x="762000" y="647700"/>
            <a:ext cx="10668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900" b="1">
                <a:solidFill>
                  <a:srgbClr val="000000"/>
                </a:solidFill>
                <a:latin typeface="Arial"/>
                <a:ea typeface="Arial"/>
                <a:cs typeface="Arial"/>
              </a:defRPr>
            </a:pPr>
            <a:r>
              <a:rPr sz="3900" b="1">
                <a:solidFill>
                  <a:srgbClr val="000000"/>
                </a:solidFill>
                <a:latin typeface="Arial"/>
                <a:ea typeface="Arial"/>
                <a:cs typeface="Arial"/>
              </a:rPr>
              <a:t>Il controllo del 100%</a:t>
            </a:r>
          </a:p>
        </p:txBody>
      </p:sp>
      <p:sp>
        <p:nvSpPr>
          <p:cNvPr id="2" name="">
            <a:extLst xmlns:a="http://schemas.openxmlformats.org/drawingml/2006/main">
              <a:ext uri="{FF2B5EF4-FFF2-40B4-BE49-F238E27FC236}">
                <a16:creationId xmlns:a16="http://schemas.microsoft.com/office/drawing/2014/main" id="{1CD7D8AB-5943-43A0-8578-24BE700A6085}"/>
              </a:ext>
            </a:extLst>
          </p:cNvPr>
          <p:cNvSpPr>
            <a:spLocks xmlns:a="http://schemas.openxmlformats.org/drawingml/2006/main" noGrp="1"/>
          </p:cNvSpPr>
          <p:nvPr/>
        </p:nvSpPr>
        <p:spPr>
          <a:xfrm xmlns:a="http://schemas.openxmlformats.org/drawingml/2006/main">
            <a:off x="10972800" y="6210300"/>
            <a:ext cx="457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a:solidFill>
                  <a:srgbClr val="666666"/>
                </a:solidFill>
                <a:latin typeface="Arial"/>
                <a:ea typeface="Arial"/>
                <a:cs typeface="Arial"/>
              </a:defRPr>
            </a:pPr>
            <a:r>
              <a:rPr sz="1425">
                <a:solidFill>
                  <a:srgbClr val="666666"/>
                </a:solidFill>
                <a:latin typeface="Arial"/>
                <a:ea typeface="Arial"/>
                <a:cs typeface="Arial"/>
              </a:rPr>
              <a:t>12</a:t>
            </a:r>
          </a:p>
        </p:txBody>
      </p:sp>
      <p:sp>
        <p:nvSpPr>
          <p:cNvPr id="3" name="">
            <a:extLst xmlns:a="http://schemas.openxmlformats.org/drawingml/2006/main">
              <a:ext uri="{FF2B5EF4-FFF2-40B4-BE49-F238E27FC236}">
                <a16:creationId xmlns:a16="http://schemas.microsoft.com/office/drawing/2014/main" id="{B2BCBC3C-0EDA-4229-932E-4720A855EA5D}"/>
              </a:ext>
            </a:extLst>
          </p:cNvPr>
          <p:cNvSpPr>
            <a:spLocks xmlns:a="http://schemas.openxmlformats.org/drawingml/2006/main" noGrp="1"/>
          </p:cNvSpPr>
          <p:nvPr/>
        </p:nvSpPr>
        <p:spPr>
          <a:xfrm xmlns:a="http://schemas.openxmlformats.org/drawingml/2006/main">
            <a:off x="762000" y="2076450"/>
            <a:ext cx="10668000" cy="1562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8400">
                <a:solidFill>
                  <a:srgbClr val="0000EE"/>
                </a:solidFill>
                <a:latin typeface="Arial"/>
                <a:ea typeface="Arial"/>
                <a:cs typeface="Arial"/>
              </a:defRPr>
            </a:pPr>
            <a:r>
              <a:rPr sz="8400">
                <a:solidFill>
                  <a:srgbClr val="0000EE"/>
                </a:solidFill>
                <a:latin typeface="Arial"/>
                <a:ea typeface="Arial"/>
                <a:cs typeface="Arial"/>
              </a:rPr>
              <a:t>100%</a:t>
            </a:r>
          </a:p>
        </p:txBody>
      </p:sp>
      <p:sp>
        <p:nvSpPr>
          <p:cNvPr id="4" name="">
            <a:extLst xmlns:a="http://schemas.openxmlformats.org/drawingml/2006/main">
              <a:ext uri="{FF2B5EF4-FFF2-40B4-BE49-F238E27FC236}">
                <a16:creationId xmlns:a16="http://schemas.microsoft.com/office/drawing/2014/main" id="{4C9CE3D6-3274-4A55-921B-FF462FBBBEE0}"/>
              </a:ext>
            </a:extLst>
          </p:cNvPr>
          <p:cNvSpPr>
            <a:spLocks xmlns:a="http://schemas.openxmlformats.org/drawingml/2006/main" noGrp="1"/>
          </p:cNvSpPr>
          <p:nvPr/>
        </p:nvSpPr>
        <p:spPr>
          <a:xfrm xmlns:a="http://schemas.openxmlformats.org/drawingml/2006/main">
            <a:off x="762000" y="4276725"/>
            <a:ext cx="10668000" cy="1390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925">
                <a:solidFill>
                  <a:srgbClr val="222222"/>
                </a:solidFill>
                <a:latin typeface="Arial"/>
                <a:ea typeface="Arial"/>
                <a:cs typeface="Arial"/>
              </a:defRPr>
            </a:pPr>
            <a:r>
              <a:rPr sz="2925">
                <a:solidFill>
                  <a:srgbClr val="222222"/>
                </a:solidFill>
                <a:latin typeface="Arial"/>
                <a:ea typeface="Arial"/>
                <a:cs typeface="Arial"/>
              </a:rPr>
              <a:t>Copiare lo stato finale prima di un token</a:t>
            </a:r>
          </a:p>
          <a:p xmlns:a="http://schemas.openxmlformats.org/drawingml/2006/main">
            <a:pPr>
              <a:defRPr sz="2925">
                <a:solidFill>
                  <a:srgbClr val="222222"/>
                </a:solidFill>
                <a:latin typeface="Arial"/>
                <a:ea typeface="Arial"/>
                <a:cs typeface="Arial"/>
              </a:defRPr>
            </a:pPr>
            <a:r>
              <a:rPr sz="2925">
                <a:solidFill>
                  <a:srgbClr val="222222"/>
                </a:solidFill>
                <a:latin typeface="Arial"/>
                <a:ea typeface="Arial"/>
                <a:cs typeface="Arial"/>
              </a:rPr>
              <a:t>può riprodurre la previsione per costruzione.</a:t>
            </a:r>
          </a:p>
        </p:txBody>
      </p:sp>
    </p:spTree>
    <p:extLst>
      <p:ext uri="{BB962C8B-B14F-4D97-AF65-F5344CB8AC3E}">
        <p14:creationId xmlns:p14="http://schemas.microsoft.com/office/powerpoint/2010/main" val="1796519639"/>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F454913C-4290-4EF1-84E4-521FB68F7F8F}"/>
              </a:ext>
            </a:extLst>
          </p:cNvPr>
          <p:cNvSpPr>
            <a:spLocks xmlns:a="http://schemas.openxmlformats.org/drawingml/2006/main" noGrp="1"/>
          </p:cNvSpPr>
          <p:nvPr/>
        </p:nvSpPr>
        <p:spPr>
          <a:xfrm xmlns:a="http://schemas.openxmlformats.org/drawingml/2006/main">
            <a:off x="762000" y="647700"/>
            <a:ext cx="10668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900" b="1">
                <a:solidFill>
                  <a:srgbClr val="000000"/>
                </a:solidFill>
                <a:latin typeface="Arial"/>
                <a:ea typeface="Arial"/>
                <a:cs typeface="Arial"/>
              </a:defRPr>
            </a:pPr>
            <a:r>
              <a:rPr sz="3900" b="1">
                <a:solidFill>
                  <a:srgbClr val="000000"/>
                </a:solidFill>
                <a:latin typeface="Arial"/>
                <a:ea typeface="Arial"/>
                <a:cs typeface="Arial"/>
              </a:rPr>
              <a:t>Chi ha fatto cosa?</a:t>
            </a:r>
          </a:p>
        </p:txBody>
      </p:sp>
      <p:sp>
        <p:nvSpPr>
          <p:cNvPr id="2" name="">
            <a:extLst xmlns:a="http://schemas.openxmlformats.org/drawingml/2006/main">
              <a:ext uri="{FF2B5EF4-FFF2-40B4-BE49-F238E27FC236}">
                <a16:creationId xmlns:a16="http://schemas.microsoft.com/office/drawing/2014/main" id="{8B0F229F-48AA-455B-AF86-B58E11A22272}"/>
              </a:ext>
            </a:extLst>
          </p:cNvPr>
          <p:cNvSpPr>
            <a:spLocks xmlns:a="http://schemas.openxmlformats.org/drawingml/2006/main" noGrp="1"/>
          </p:cNvSpPr>
          <p:nvPr/>
        </p:nvSpPr>
        <p:spPr>
          <a:xfrm xmlns:a="http://schemas.openxmlformats.org/drawingml/2006/main">
            <a:off x="10972800" y="6210300"/>
            <a:ext cx="457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a:solidFill>
                  <a:srgbClr val="666666"/>
                </a:solidFill>
                <a:latin typeface="Arial"/>
                <a:ea typeface="Arial"/>
                <a:cs typeface="Arial"/>
              </a:defRPr>
            </a:pPr>
            <a:r>
              <a:rPr sz="1425">
                <a:solidFill>
                  <a:srgbClr val="666666"/>
                </a:solidFill>
                <a:latin typeface="Arial"/>
                <a:ea typeface="Arial"/>
                <a:cs typeface="Arial"/>
              </a:rPr>
              <a:t>13</a:t>
            </a:r>
          </a:p>
        </p:txBody>
      </p:sp>
      <p:sp>
        <p:nvSpPr>
          <p:cNvPr id="3" name="">
            <a:extLst xmlns:a="http://schemas.openxmlformats.org/drawingml/2006/main">
              <a:ext uri="{FF2B5EF4-FFF2-40B4-BE49-F238E27FC236}">
                <a16:creationId xmlns:a16="http://schemas.microsoft.com/office/drawing/2014/main" id="{83CBFC81-6ADE-4A60-AEFF-F2D71E774B67}"/>
              </a:ext>
            </a:extLst>
          </p:cNvPr>
          <p:cNvSpPr>
            <a:spLocks xmlns:a="http://schemas.openxmlformats.org/drawingml/2006/main" noGrp="1"/>
          </p:cNvSpPr>
          <p:nvPr/>
        </p:nvSpPr>
        <p:spPr>
          <a:xfrm xmlns:a="http://schemas.openxmlformats.org/drawingml/2006/main">
            <a:off x="762000" y="2114550"/>
            <a:ext cx="106680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a:solidFill>
                  <a:srgbClr val="222222"/>
                </a:solidFill>
                <a:latin typeface="Arial"/>
                <a:ea typeface="Arial"/>
                <a:cs typeface="Arial"/>
              </a:defRPr>
            </a:pPr>
            <a:r>
              <a:rPr sz="3150">
                <a:solidFill>
                  <a:srgbClr val="222222"/>
                </a:solidFill>
                <a:latin typeface="Arial"/>
                <a:ea typeface="Arial"/>
                <a:cs typeface="Arial"/>
              </a:rPr>
              <a:t>The doctor knew the nurse had arrived.</a:t>
            </a:r>
          </a:p>
        </p:txBody>
      </p:sp>
      <p:sp>
        <p:nvSpPr>
          <p:cNvPr id="4" name="">
            <a:extLst xmlns:a="http://schemas.openxmlformats.org/drawingml/2006/main">
              <a:ext uri="{FF2B5EF4-FFF2-40B4-BE49-F238E27FC236}">
                <a16:creationId xmlns:a16="http://schemas.microsoft.com/office/drawing/2014/main" id="{6D596BEC-FA11-417B-BDF1-3F2C50E94441}"/>
              </a:ext>
            </a:extLst>
          </p:cNvPr>
          <p:cNvSpPr>
            <a:spLocks xmlns:a="http://schemas.openxmlformats.org/drawingml/2006/main" noGrp="1"/>
          </p:cNvSpPr>
          <p:nvPr/>
        </p:nvSpPr>
        <p:spPr>
          <a:xfrm xmlns:a="http://schemas.openxmlformats.org/drawingml/2006/main">
            <a:off x="762000" y="3371850"/>
            <a:ext cx="106680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a:solidFill>
                  <a:srgbClr val="0000EE"/>
                </a:solidFill>
                <a:latin typeface="Arial"/>
                <a:ea typeface="Arial"/>
                <a:cs typeface="Arial"/>
              </a:defRPr>
            </a:pPr>
            <a:r>
              <a:rPr sz="3300">
                <a:solidFill>
                  <a:srgbClr val="0000EE"/>
                </a:solidFill>
                <a:latin typeface="Arial"/>
                <a:ea typeface="Arial"/>
                <a:cs typeface="Arial"/>
              </a:rPr>
              <a:t>Chi sapeva?     Chi era arrivato?</a:t>
            </a:r>
          </a:p>
        </p:txBody>
      </p:sp>
      <p:sp>
        <p:nvSpPr>
          <p:cNvPr id="5" name="">
            <a:extLst xmlns:a="http://schemas.openxmlformats.org/drawingml/2006/main">
              <a:ext uri="{FF2B5EF4-FFF2-40B4-BE49-F238E27FC236}">
                <a16:creationId xmlns:a16="http://schemas.microsoft.com/office/drawing/2014/main" id="{725A2E79-45B1-4F3C-99B9-A247DCDEE144}"/>
              </a:ext>
            </a:extLst>
          </p:cNvPr>
          <p:cNvSpPr>
            <a:spLocks xmlns:a="http://schemas.openxmlformats.org/drawingml/2006/main" noGrp="1"/>
          </p:cNvSpPr>
          <p:nvPr/>
        </p:nvSpPr>
        <p:spPr>
          <a:xfrm xmlns:a="http://schemas.openxmlformats.org/drawingml/2006/main">
            <a:off x="762000" y="4610100"/>
            <a:ext cx="10668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a:solidFill>
                  <a:srgbClr val="222222"/>
                </a:solidFill>
                <a:latin typeface="Arial"/>
                <a:ea typeface="Arial"/>
                <a:cs typeface="Arial"/>
              </a:defRPr>
            </a:pPr>
            <a:r>
              <a:rPr sz="2400">
                <a:solidFill>
                  <a:srgbClr val="222222"/>
                </a:solidFill>
                <a:latin typeface="Arial"/>
                <a:ea typeface="Arial"/>
                <a:cs typeface="Arial"/>
              </a:rPr>
              <a:t>Ruoli invertiti. Opzioni in entrambi gli ordini.</a:t>
            </a:r>
          </a:p>
        </p:txBody>
      </p:sp>
      <p:sp>
        <p:nvSpPr>
          <p:cNvPr id="6" name="">
            <a:extLst xmlns:a="http://schemas.openxmlformats.org/drawingml/2006/main">
              <a:ext uri="{FF2B5EF4-FFF2-40B4-BE49-F238E27FC236}">
                <a16:creationId xmlns:a16="http://schemas.microsoft.com/office/drawing/2014/main" id="{C013A4CD-00DB-4A39-816D-BB3FD2DFB6FD}"/>
              </a:ext>
            </a:extLst>
          </p:cNvPr>
          <p:cNvSpPr>
            <a:spLocks xmlns:a="http://schemas.openxmlformats.org/drawingml/2006/main" noGrp="1"/>
          </p:cNvSpPr>
          <p:nvPr/>
        </p:nvSpPr>
        <p:spPr>
          <a:xfrm xmlns:a="http://schemas.openxmlformats.org/drawingml/2006/main">
            <a:off x="762000" y="5581650"/>
            <a:ext cx="106680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a:solidFill>
                  <a:srgbClr val="222222"/>
                </a:solidFill>
                <a:latin typeface="Arial"/>
                <a:ea typeface="Arial"/>
                <a:cs typeface="Arial"/>
              </a:defRPr>
            </a:pPr>
            <a:r>
              <a:rPr sz="1950">
                <a:solidFill>
                  <a:srgbClr val="222222"/>
                </a:solidFill>
                <a:latin typeface="Arial"/>
                <a:ea typeface="Arial"/>
                <a:cs typeface="Arial"/>
              </a:rPr>
              <a:t>Pilot preparato · validazione e inferenza ancora da fare</a:t>
            </a:r>
          </a:p>
        </p:txBody>
      </p:sp>
    </p:spTree>
    <p:extLst>
      <p:ext uri="{BB962C8B-B14F-4D97-AF65-F5344CB8AC3E}">
        <p14:creationId xmlns:p14="http://schemas.microsoft.com/office/powerpoint/2010/main" val="419020388"/>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F98E36F1-4BE3-43A6-AC64-E708E060D14C}"/>
              </a:ext>
            </a:extLst>
          </p:cNvPr>
          <p:cNvSpPr>
            <a:spLocks xmlns:a="http://schemas.openxmlformats.org/drawingml/2006/main" noGrp="1"/>
          </p:cNvSpPr>
          <p:nvPr/>
        </p:nvSpPr>
        <p:spPr>
          <a:xfrm xmlns:a="http://schemas.openxmlformats.org/drawingml/2006/main">
            <a:off x="762000" y="647700"/>
            <a:ext cx="10668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900" b="1">
                <a:solidFill>
                  <a:srgbClr val="000000"/>
                </a:solidFill>
                <a:latin typeface="Arial"/>
                <a:ea typeface="Arial"/>
                <a:cs typeface="Arial"/>
              </a:defRPr>
            </a:pPr>
            <a:r>
              <a:rPr sz="3900" b="1">
                <a:solidFill>
                  <a:srgbClr val="000000"/>
                </a:solidFill>
                <a:latin typeface="Arial"/>
                <a:ea typeface="Arial"/>
                <a:cs typeface="Arial"/>
              </a:rPr>
              <a:t>La misura decide la domanda</a:t>
            </a:r>
          </a:p>
        </p:txBody>
      </p:sp>
      <p:sp>
        <p:nvSpPr>
          <p:cNvPr id="2" name="">
            <a:extLst xmlns:a="http://schemas.openxmlformats.org/drawingml/2006/main">
              <a:ext uri="{FF2B5EF4-FFF2-40B4-BE49-F238E27FC236}">
                <a16:creationId xmlns:a16="http://schemas.microsoft.com/office/drawing/2014/main" id="{83312D23-4DCF-486E-B309-D81CA89B1700}"/>
              </a:ext>
            </a:extLst>
          </p:cNvPr>
          <p:cNvSpPr>
            <a:spLocks xmlns:a="http://schemas.openxmlformats.org/drawingml/2006/main" noGrp="1"/>
          </p:cNvSpPr>
          <p:nvPr/>
        </p:nvSpPr>
        <p:spPr>
          <a:xfrm xmlns:a="http://schemas.openxmlformats.org/drawingml/2006/main">
            <a:off x="10972800" y="6210300"/>
            <a:ext cx="457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a:solidFill>
                  <a:srgbClr val="666666"/>
                </a:solidFill>
                <a:latin typeface="Arial"/>
                <a:ea typeface="Arial"/>
                <a:cs typeface="Arial"/>
              </a:defRPr>
            </a:pPr>
            <a:r>
              <a:rPr sz="1425">
                <a:solidFill>
                  <a:srgbClr val="666666"/>
                </a:solidFill>
                <a:latin typeface="Arial"/>
                <a:ea typeface="Arial"/>
                <a:cs typeface="Arial"/>
              </a:rPr>
              <a:t>14</a:t>
            </a:r>
          </a:p>
        </p:txBody>
      </p:sp>
      <p:sp>
        <p:nvSpPr>
          <p:cNvPr id="3" name="">
            <a:extLst xmlns:a="http://schemas.openxmlformats.org/drawingml/2006/main">
              <a:ext uri="{FF2B5EF4-FFF2-40B4-BE49-F238E27FC236}">
                <a16:creationId xmlns:a16="http://schemas.microsoft.com/office/drawing/2014/main" id="{B60FDC12-2E0A-4FCD-AE53-0CDC467800C9}"/>
              </a:ext>
            </a:extLst>
          </p:cNvPr>
          <p:cNvSpPr>
            <a:spLocks xmlns:a="http://schemas.openxmlformats.org/drawingml/2006/main" noGrp="1"/>
          </p:cNvSpPr>
          <p:nvPr/>
        </p:nvSpPr>
        <p:spPr>
          <a:xfrm xmlns:a="http://schemas.openxmlformats.org/drawingml/2006/main">
            <a:off x="762000" y="2228850"/>
            <a:ext cx="106680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75">
                <a:solidFill>
                  <a:srgbClr val="0000EE"/>
                </a:solidFill>
                <a:latin typeface="Arial"/>
                <a:ea typeface="Arial"/>
                <a:cs typeface="Arial"/>
              </a:defRPr>
            </a:pPr>
            <a:r>
              <a:rPr sz="3375">
                <a:solidFill>
                  <a:srgbClr val="0000EE"/>
                </a:solidFill>
                <a:latin typeface="Arial"/>
                <a:ea typeface="Arial"/>
                <a:cs typeface="Arial"/>
              </a:rPr>
              <a:t>Previsione. Intervento. Interpretazione.</a:t>
            </a:r>
          </a:p>
        </p:txBody>
      </p:sp>
      <p:sp>
        <p:nvSpPr>
          <p:cNvPr id="4" name="">
            <a:extLst xmlns:a="http://schemas.openxmlformats.org/drawingml/2006/main">
              <a:ext uri="{FF2B5EF4-FFF2-40B4-BE49-F238E27FC236}">
                <a16:creationId xmlns:a16="http://schemas.microsoft.com/office/drawing/2014/main" id="{5EC686FA-85CB-4A22-BB5C-E9FF07375E87}"/>
              </a:ext>
            </a:extLst>
          </p:cNvPr>
          <p:cNvSpPr>
            <a:spLocks xmlns:a="http://schemas.openxmlformats.org/drawingml/2006/main" noGrp="1"/>
          </p:cNvSpPr>
          <p:nvPr/>
        </p:nvSpPr>
        <p:spPr>
          <a:xfrm xmlns:a="http://schemas.openxmlformats.org/drawingml/2006/main">
            <a:off x="762000" y="3838575"/>
            <a:ext cx="106680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925">
                <a:solidFill>
                  <a:srgbClr val="222222"/>
                </a:solidFill>
                <a:latin typeface="Arial"/>
                <a:ea typeface="Arial"/>
                <a:cs typeface="Arial"/>
              </a:defRPr>
            </a:pPr>
            <a:r>
              <a:rPr sz="2925">
                <a:solidFill>
                  <a:srgbClr val="222222"/>
                </a:solidFill>
                <a:latin typeface="Arial"/>
                <a:ea typeface="Arial"/>
                <a:cs typeface="Arial"/>
              </a:rPr>
              <a:t>Un circuito di rianalisi resta da identificare.</a:t>
            </a:r>
          </a:p>
        </p:txBody>
      </p:sp>
      <p:sp>
        <p:nvSpPr>
          <p:cNvPr id="5" name="">
            <a:extLst xmlns:a="http://schemas.openxmlformats.org/drawingml/2006/main">
              <a:ext uri="{FF2B5EF4-FFF2-40B4-BE49-F238E27FC236}">
                <a16:creationId xmlns:a16="http://schemas.microsoft.com/office/drawing/2014/main" id="{12A56B2E-E21B-4EE3-BDF2-24CEDE46C26E}"/>
              </a:ext>
            </a:extLst>
          </p:cNvPr>
          <p:cNvSpPr>
            <a:spLocks xmlns:a="http://schemas.openxmlformats.org/drawingml/2006/main" noGrp="1"/>
          </p:cNvSpPr>
          <p:nvPr/>
        </p:nvSpPr>
        <p:spPr>
          <a:xfrm xmlns:a="http://schemas.openxmlformats.org/drawingml/2006/main">
            <a:off x="762000" y="5334000"/>
            <a:ext cx="10668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a:solidFill>
                  <a:srgbClr val="0000EE"/>
                </a:solidFill>
                <a:latin typeface="Arial"/>
                <a:ea typeface="Arial"/>
                <a:cs typeface="Arial"/>
              </a:defRPr>
            </a:pPr>
            <a:r>
              <a:rPr sz="1950">
                <a:solidFill>
                  <a:srgbClr val="0000EE"/>
                </a:solidFill>
                <a:latin typeface="Arial"/>
                <a:ea typeface="Arial"/>
                <a:cs typeface="Arial"/>
              </a:rPr>
              <a:t>grokked.it</a:t>
            </a:r>
          </a:p>
          <a:p xmlns:a="http://schemas.openxmlformats.org/drawingml/2006/main">
            <a:pPr>
              <a:defRPr sz="1950">
                <a:solidFill>
                  <a:srgbClr val="0000EE"/>
                </a:solidFill>
                <a:latin typeface="Arial"/>
                <a:ea typeface="Arial"/>
                <a:cs typeface="Arial"/>
              </a:defRPr>
            </a:pPr>
            <a:r>
              <a:rPr sz="1950">
                <a:solidFill>
                  <a:srgbClr val="0000EE"/>
                </a:solidFill>
                <a:latin typeface="Arial"/>
                <a:ea typeface="Arial"/>
                <a:cs typeface="Arial"/>
              </a:rPr>
              <a:t>github.com/lucamattiazzi/garden_path_sentences</a:t>
            </a:r>
          </a:p>
        </p:txBody>
      </p:sp>
    </p:spTree>
    <p:extLst>
      <p:ext uri="{BB962C8B-B14F-4D97-AF65-F5344CB8AC3E}">
        <p14:creationId xmlns:p14="http://schemas.microsoft.com/office/powerpoint/2010/main" val="73258735"/>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7EE46D0C-9C52-4961-B85C-6846B4A4444E}"/>
              </a:ext>
            </a:extLst>
          </p:cNvPr>
          <p:cNvSpPr>
            <a:spLocks xmlns:a="http://schemas.openxmlformats.org/drawingml/2006/main" noGrp="1"/>
          </p:cNvSpPr>
          <p:nvPr/>
        </p:nvSpPr>
        <p:spPr>
          <a:xfrm xmlns:a="http://schemas.openxmlformats.org/drawingml/2006/main">
            <a:off x="762000" y="647700"/>
            <a:ext cx="10668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900" b="1">
                <a:solidFill>
                  <a:srgbClr val="000000"/>
                </a:solidFill>
                <a:latin typeface="Arial"/>
                <a:ea typeface="Arial"/>
                <a:cs typeface="Arial"/>
              </a:defRPr>
            </a:pPr>
            <a:r>
              <a:rPr sz="3900" b="1">
                <a:solidFill>
                  <a:srgbClr val="000000"/>
                </a:solidFill>
                <a:latin typeface="Arial"/>
                <a:ea typeface="Arial"/>
                <a:cs typeface="Arial"/>
              </a:rPr>
              <a:t>Backup / le cinque costruzioni</a:t>
            </a:r>
          </a:p>
        </p:txBody>
      </p:sp>
      <p:sp>
        <p:nvSpPr>
          <p:cNvPr id="2" name="">
            <a:extLst xmlns:a="http://schemas.openxmlformats.org/drawingml/2006/main">
              <a:ext uri="{FF2B5EF4-FFF2-40B4-BE49-F238E27FC236}">
                <a16:creationId xmlns:a16="http://schemas.microsoft.com/office/drawing/2014/main" id="{2D333C3C-3410-4FF7-ABF8-2CE5104237EC}"/>
              </a:ext>
            </a:extLst>
          </p:cNvPr>
          <p:cNvSpPr>
            <a:spLocks xmlns:a="http://schemas.openxmlformats.org/drawingml/2006/main" noGrp="1"/>
          </p:cNvSpPr>
          <p:nvPr/>
        </p:nvSpPr>
        <p:spPr>
          <a:xfrm xmlns:a="http://schemas.openxmlformats.org/drawingml/2006/main">
            <a:off x="10972800" y="6210300"/>
            <a:ext cx="457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a:solidFill>
                  <a:srgbClr val="666666"/>
                </a:solidFill>
                <a:latin typeface="Arial"/>
                <a:ea typeface="Arial"/>
                <a:cs typeface="Arial"/>
              </a:defRPr>
            </a:pPr>
            <a:r>
              <a:rPr sz="1425">
                <a:solidFill>
                  <a:srgbClr val="666666"/>
                </a:solidFill>
                <a:latin typeface="Arial"/>
                <a:ea typeface="Arial"/>
                <a:cs typeface="Arial"/>
              </a:rPr>
              <a:t>15</a:t>
            </a:r>
          </a:p>
        </p:txBody>
      </p:sp>
      <p:sp>
        <p:nvSpPr>
          <p:cNvPr id="3" name="">
            <a:extLst xmlns:a="http://schemas.openxmlformats.org/drawingml/2006/main">
              <a:ext uri="{FF2B5EF4-FFF2-40B4-BE49-F238E27FC236}">
                <a16:creationId xmlns:a16="http://schemas.microsoft.com/office/drawing/2014/main" id="{731CAEB7-2CA8-407D-A2D3-4D13D04595B1}"/>
              </a:ext>
            </a:extLst>
          </p:cNvPr>
          <p:cNvSpPr>
            <a:spLocks xmlns:a="http://schemas.openxmlformats.org/drawingml/2006/main" noGrp="1"/>
          </p:cNvSpPr>
          <p:nvPr/>
        </p:nvSpPr>
        <p:spPr>
          <a:xfrm xmlns:a="http://schemas.openxmlformats.org/drawingml/2006/main">
            <a:off x="762000" y="2019300"/>
            <a:ext cx="10668000" cy="3571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a:solidFill>
                  <a:srgbClr val="222222"/>
                </a:solidFill>
                <a:latin typeface="Arial"/>
                <a:ea typeface="Arial"/>
                <a:cs typeface="Arial"/>
              </a:defRPr>
            </a:pPr>
            <a:r>
              <a:rPr sz="2400">
                <a:solidFill>
                  <a:srgbClr val="222222"/>
                </a:solidFill>
                <a:latin typeface="Arial"/>
                <a:ea typeface="Arial"/>
                <a:cs typeface="Arial"/>
              </a:rPr>
              <a:t>RR       The horse raced past the barn fell.</a:t>
            </a:r>
          </a:p>
          <a:p xmlns:a="http://schemas.openxmlformats.org/drawingml/2006/main">
            <a:pPr>
              <a:defRPr sz="2400">
                <a:solidFill>
                  <a:srgbClr val="222222"/>
                </a:solidFill>
                <a:latin typeface="Arial"/>
                <a:ea typeface="Arial"/>
                <a:cs typeface="Arial"/>
              </a:defRPr>
            </a:pPr>
            <a:r>
              <a:rPr sz="2400">
                <a:solidFill>
                  <a:srgbClr val="222222"/>
                </a:solidFill>
                <a:latin typeface="Arial"/>
                <a:ea typeface="Arial"/>
                <a:cs typeface="Arial"/>
              </a:rPr>
              <a:t>NV       The old man the boat.</a:t>
            </a:r>
          </a:p>
          <a:p xmlns:a="http://schemas.openxmlformats.org/drawingml/2006/main">
            <a:pPr>
              <a:defRPr sz="2400">
                <a:solidFill>
                  <a:srgbClr val="222222"/>
                </a:solidFill>
                <a:latin typeface="Arial"/>
                <a:ea typeface="Arial"/>
                <a:cs typeface="Arial"/>
              </a:defRPr>
            </a:pPr>
            <a:r>
              <a:rPr sz="2400">
                <a:solidFill>
                  <a:srgbClr val="222222"/>
                </a:solidFill>
                <a:latin typeface="Arial"/>
                <a:ea typeface="Arial"/>
                <a:cs typeface="Arial"/>
              </a:rPr>
              <a:t>NP/S   The man knew the answer was wrong.</a:t>
            </a:r>
          </a:p>
          <a:p xmlns:a="http://schemas.openxmlformats.org/drawingml/2006/main">
            <a:pPr>
              <a:defRPr sz="2400">
                <a:solidFill>
                  <a:srgbClr val="222222"/>
                </a:solidFill>
                <a:latin typeface="Arial"/>
                <a:ea typeface="Arial"/>
                <a:cs typeface="Arial"/>
              </a:defRPr>
            </a:pPr>
            <a:r>
              <a:rPr sz="2400">
                <a:solidFill>
                  <a:srgbClr val="222222"/>
                </a:solidFill>
                <a:latin typeface="Arial"/>
                <a:ea typeface="Arial"/>
                <a:cs typeface="Arial"/>
              </a:rPr>
              <a:t>NP/Z   While the man hunted the deer ran.</a:t>
            </a:r>
          </a:p>
          <a:p xmlns:a="http://schemas.openxmlformats.org/drawingml/2006/main">
            <a:pPr>
              <a:defRPr sz="2400">
                <a:solidFill>
                  <a:srgbClr val="222222"/>
                </a:solidFill>
                <a:latin typeface="Arial"/>
                <a:ea typeface="Arial"/>
                <a:cs typeface="Arial"/>
              </a:defRPr>
            </a:pPr>
            <a:r>
              <a:rPr sz="2400">
                <a:solidFill>
                  <a:srgbClr val="222222"/>
                </a:solidFill>
                <a:latin typeface="Arial"/>
                <a:ea typeface="Arial"/>
                <a:cs typeface="Arial"/>
              </a:rPr>
              <a:t>COORD   John kissed Mary and her sister laughed.</a:t>
            </a:r>
          </a:p>
        </p:txBody>
      </p:sp>
      <p:sp>
        <p:nvSpPr>
          <p:cNvPr id="4" name="">
            <a:extLst xmlns:a="http://schemas.openxmlformats.org/drawingml/2006/main">
              <a:ext uri="{FF2B5EF4-FFF2-40B4-BE49-F238E27FC236}">
                <a16:creationId xmlns:a16="http://schemas.microsoft.com/office/drawing/2014/main" id="{B5343DAD-6054-4D51-8D60-B153AA8B9184}"/>
              </a:ext>
            </a:extLst>
          </p:cNvPr>
          <p:cNvSpPr>
            <a:spLocks xmlns:a="http://schemas.openxmlformats.org/drawingml/2006/main" noGrp="1"/>
          </p:cNvSpPr>
          <p:nvPr/>
        </p:nvSpPr>
        <p:spPr>
          <a:xfrm xmlns:a="http://schemas.openxmlformats.org/drawingml/2006/main">
            <a:off x="762000" y="5819775"/>
            <a:ext cx="10477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a:solidFill>
                  <a:srgbClr val="0000EE"/>
                </a:solidFill>
                <a:latin typeface="Arial"/>
                <a:ea typeface="Arial"/>
                <a:cs typeface="Arial"/>
              </a:defRPr>
            </a:pPr>
            <a:r>
              <a:rPr sz="1875">
                <a:solidFill>
                  <a:srgbClr val="0000EE"/>
                </a:solidFill>
                <a:latin typeface="Arial"/>
                <a:ea typeface="Arial"/>
                <a:cs typeface="Arial"/>
              </a:rPr>
              <a:t>Esempi delle strutture storiche</a:t>
            </a:r>
          </a:p>
        </p:txBody>
      </p:sp>
    </p:spTree>
    <p:extLst>
      <p:ext uri="{BB962C8B-B14F-4D97-AF65-F5344CB8AC3E}">
        <p14:creationId xmlns:p14="http://schemas.microsoft.com/office/powerpoint/2010/main" val="572945276"/>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17B43977-0A00-4279-946C-38A543626679}"/>
              </a:ext>
            </a:extLst>
          </p:cNvPr>
          <p:cNvSpPr>
            <a:spLocks xmlns:a="http://schemas.openxmlformats.org/drawingml/2006/main" noGrp="1"/>
          </p:cNvSpPr>
          <p:nvPr/>
        </p:nvSpPr>
        <p:spPr>
          <a:xfrm xmlns:a="http://schemas.openxmlformats.org/drawingml/2006/main">
            <a:off x="762000" y="647700"/>
            <a:ext cx="10668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900" b="1">
                <a:solidFill>
                  <a:srgbClr val="000000"/>
                </a:solidFill>
                <a:latin typeface="Arial"/>
                <a:ea typeface="Arial"/>
                <a:cs typeface="Arial"/>
              </a:defRPr>
            </a:pPr>
            <a:r>
              <a:rPr sz="3900" b="1">
                <a:solidFill>
                  <a:srgbClr val="000000"/>
                </a:solidFill>
                <a:latin typeface="Arial"/>
                <a:ea typeface="Arial"/>
                <a:cs typeface="Arial"/>
              </a:rPr>
              <a:t>Backup / sensibilità agli item</a:t>
            </a:r>
          </a:p>
        </p:txBody>
      </p:sp>
      <p:sp>
        <p:nvSpPr>
          <p:cNvPr id="2" name="">
            <a:extLst xmlns:a="http://schemas.openxmlformats.org/drawingml/2006/main">
              <a:ext uri="{FF2B5EF4-FFF2-40B4-BE49-F238E27FC236}">
                <a16:creationId xmlns:a16="http://schemas.microsoft.com/office/drawing/2014/main" id="{009E4BA5-2B5D-4103-8FF6-3102233AF804}"/>
              </a:ext>
            </a:extLst>
          </p:cNvPr>
          <p:cNvSpPr>
            <a:spLocks xmlns:a="http://schemas.openxmlformats.org/drawingml/2006/main" noGrp="1"/>
          </p:cNvSpPr>
          <p:nvPr/>
        </p:nvSpPr>
        <p:spPr>
          <a:xfrm xmlns:a="http://schemas.openxmlformats.org/drawingml/2006/main">
            <a:off x="10972800" y="6210300"/>
            <a:ext cx="457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a:solidFill>
                  <a:srgbClr val="666666"/>
                </a:solidFill>
                <a:latin typeface="Arial"/>
                <a:ea typeface="Arial"/>
                <a:cs typeface="Arial"/>
              </a:defRPr>
            </a:pPr>
            <a:r>
              <a:rPr sz="1425">
                <a:solidFill>
                  <a:srgbClr val="666666"/>
                </a:solidFill>
                <a:latin typeface="Arial"/>
                <a:ea typeface="Arial"/>
                <a:cs typeface="Arial"/>
              </a:rPr>
              <a:t>16</a:t>
            </a:r>
          </a:p>
        </p:txBody>
      </p:sp>
      <p:sp>
        <p:nvSpPr>
          <p:cNvPr id="3" name="">
            <a:extLst xmlns:a="http://schemas.openxmlformats.org/drawingml/2006/main">
              <a:ext uri="{FF2B5EF4-FFF2-40B4-BE49-F238E27FC236}">
                <a16:creationId xmlns:a16="http://schemas.microsoft.com/office/drawing/2014/main" id="{70E3B12E-B765-4A28-A67D-F9F9D49BBC97}"/>
              </a:ext>
            </a:extLst>
          </p:cNvPr>
          <p:cNvSpPr>
            <a:spLocks xmlns:a="http://schemas.openxmlformats.org/drawingml/2006/main" noGrp="1"/>
          </p:cNvSpPr>
          <p:nvPr/>
        </p:nvSpPr>
        <p:spPr>
          <a:xfrm xmlns:a="http://schemas.openxmlformats.org/drawingml/2006/main">
            <a:off x="762000" y="1943100"/>
            <a:ext cx="106680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a:solidFill>
                  <a:srgbClr val="222222"/>
                </a:solidFill>
                <a:latin typeface="Arial"/>
                <a:ea typeface="Arial"/>
                <a:cs typeface="Arial"/>
              </a:defRPr>
            </a:pPr>
            <a:r>
              <a:rPr sz="2175">
                <a:solidFill>
                  <a:srgbClr val="222222"/>
                </a:solidFill>
                <a:latin typeface="Arial"/>
                <a:ea typeface="Arial"/>
                <a:cs typeface="Arial"/>
              </a:rPr>
              <a:t>Gemma 27B · continuazione · 10 coppie NV “canonical”</a:t>
            </a:r>
          </a:p>
        </p:txBody>
      </p:sp>
      <p:sp>
        <p:nvSpPr>
          <p:cNvPr id="4" name="">
            <a:extLst xmlns:a="http://schemas.openxmlformats.org/drawingml/2006/main">
              <a:ext uri="{FF2B5EF4-FFF2-40B4-BE49-F238E27FC236}">
                <a16:creationId xmlns:a16="http://schemas.microsoft.com/office/drawing/2014/main" id="{A3CA2E38-443F-454A-9DD0-1F464274178B}"/>
              </a:ext>
            </a:extLst>
          </p:cNvPr>
          <p:cNvSpPr>
            <a:spLocks xmlns:a="http://schemas.openxmlformats.org/drawingml/2006/main" noGrp="1"/>
          </p:cNvSpPr>
          <p:nvPr/>
        </p:nvSpPr>
        <p:spPr>
          <a:xfrm xmlns:a="http://schemas.openxmlformats.org/drawingml/2006/main">
            <a:off x="762000" y="2981325"/>
            <a:ext cx="106680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5325">
                <a:solidFill>
                  <a:srgbClr val="0000EE"/>
                </a:solidFill>
                <a:latin typeface="Arial"/>
                <a:ea typeface="Arial"/>
                <a:cs typeface="Arial"/>
              </a:defRPr>
            </a:pPr>
            <a:r>
              <a:rPr sz="5325">
                <a:solidFill>
                  <a:srgbClr val="0000EE"/>
                </a:solidFill>
                <a:latin typeface="Arial"/>
                <a:ea typeface="Arial"/>
                <a:cs typeface="Arial"/>
              </a:rPr>
              <a:t>1,477 nats</a:t>
            </a:r>
          </a:p>
        </p:txBody>
      </p:sp>
      <p:sp>
        <p:nvSpPr>
          <p:cNvPr id="5" name="">
            <a:extLst xmlns:a="http://schemas.openxmlformats.org/drawingml/2006/main">
              <a:ext uri="{FF2B5EF4-FFF2-40B4-BE49-F238E27FC236}">
                <a16:creationId xmlns:a16="http://schemas.microsoft.com/office/drawing/2014/main" id="{235CE00D-6565-46C7-9E63-6BD6682F32AF}"/>
              </a:ext>
            </a:extLst>
          </p:cNvPr>
          <p:cNvSpPr>
            <a:spLocks xmlns:a="http://schemas.openxmlformats.org/drawingml/2006/main" noGrp="1"/>
          </p:cNvSpPr>
          <p:nvPr/>
        </p:nvSpPr>
        <p:spPr>
          <a:xfrm xmlns:a="http://schemas.openxmlformats.org/drawingml/2006/main">
            <a:off x="762000" y="4533900"/>
            <a:ext cx="10668000" cy="1314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a:solidFill>
                  <a:srgbClr val="222222"/>
                </a:solidFill>
                <a:latin typeface="Arial"/>
                <a:ea typeface="Arial"/>
                <a:cs typeface="Arial"/>
              </a:defRPr>
            </a:pPr>
            <a:r>
              <a:rPr sz="2700">
                <a:solidFill>
                  <a:srgbClr val="222222"/>
                </a:solidFill>
                <a:latin typeface="Arial"/>
                <a:ea typeface="Arial"/>
                <a:cs typeface="Arial"/>
              </a:rPr>
              <a:t>IC bootstrap 95%: −0,156 … 3,811</a:t>
            </a:r>
          </a:p>
          <a:p xmlns:a="http://schemas.openxmlformats.org/drawingml/2006/main">
            <a:pPr>
              <a:defRPr sz="2700">
                <a:solidFill>
                  <a:srgbClr val="222222"/>
                </a:solidFill>
                <a:latin typeface="Arial"/>
                <a:ea typeface="Arial"/>
                <a:cs typeface="Arial"/>
              </a:defRPr>
            </a:pPr>
            <a:r>
              <a:rPr sz="2700">
                <a:solidFill>
                  <a:srgbClr val="222222"/>
                </a:solidFill>
                <a:latin typeface="Arial"/>
                <a:ea typeface="Arial"/>
                <a:cs typeface="Arial"/>
              </a:rPr>
              <a:t>Senza il solo item #23: 0,437 nats</a:t>
            </a:r>
          </a:p>
        </p:txBody>
      </p:sp>
    </p:spTree>
    <p:extLst>
      <p:ext uri="{BB962C8B-B14F-4D97-AF65-F5344CB8AC3E}">
        <p14:creationId xmlns:p14="http://schemas.microsoft.com/office/powerpoint/2010/main" val="1236359477"/>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2026-10-01T14:18:29.7870000Z</dcterms:created>
  <dcterms:modified xsi:type="dcterms:W3CDTF">2026-10-01T14:18:29.7870000Z</dcterms:modified>
</coreProperties>
</file>